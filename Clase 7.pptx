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313" r:id="rId3"/>
    <p:sldId id="453" r:id="rId4"/>
    <p:sldId id="446" r:id="rId5"/>
    <p:sldId id="400" r:id="rId6"/>
    <p:sldId id="401" r:id="rId7"/>
    <p:sldId id="402" r:id="rId8"/>
    <p:sldId id="403" r:id="rId9"/>
    <p:sldId id="404" r:id="rId10"/>
    <p:sldId id="405" r:id="rId11"/>
    <p:sldId id="407" r:id="rId12"/>
    <p:sldId id="408" r:id="rId13"/>
    <p:sldId id="409" r:id="rId14"/>
    <p:sldId id="406" r:id="rId15"/>
    <p:sldId id="398" r:id="rId16"/>
    <p:sldId id="454" r:id="rId17"/>
    <p:sldId id="455" r:id="rId18"/>
    <p:sldId id="456" r:id="rId19"/>
    <p:sldId id="457" r:id="rId20"/>
    <p:sldId id="458" r:id="rId21"/>
    <p:sldId id="459" r:id="rId22"/>
    <p:sldId id="468" r:id="rId23"/>
    <p:sldId id="462" r:id="rId24"/>
    <p:sldId id="463" r:id="rId25"/>
    <p:sldId id="460" r:id="rId26"/>
    <p:sldId id="461" r:id="rId27"/>
    <p:sldId id="464" r:id="rId28"/>
    <p:sldId id="465" r:id="rId29"/>
    <p:sldId id="467" r:id="rId30"/>
    <p:sldId id="466" r:id="rId31"/>
    <p:sldId id="447" r:id="rId32"/>
    <p:sldId id="399" r:id="rId33"/>
    <p:sldId id="448" r:id="rId34"/>
    <p:sldId id="449" r:id="rId35"/>
    <p:sldId id="450" r:id="rId36"/>
    <p:sldId id="451" r:id="rId37"/>
  </p:sldIdLst>
  <p:sldSz cx="9144000" cy="5143500" type="screen16x9"/>
  <p:notesSz cx="6797675" cy="9928225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D948311-5C34-412F-A525-8512BBC86817}">
          <p14:sldIdLst>
            <p14:sldId id="256"/>
          </p14:sldIdLst>
        </p14:section>
        <p14:section name="Sección sin título" id="{4AFB96C3-8BDE-4887-8DE3-C17D210FE293}">
          <p14:sldIdLst>
            <p14:sldId id="313"/>
            <p14:sldId id="453"/>
            <p14:sldId id="446"/>
            <p14:sldId id="400"/>
            <p14:sldId id="401"/>
            <p14:sldId id="402"/>
            <p14:sldId id="403"/>
            <p14:sldId id="404"/>
            <p14:sldId id="405"/>
            <p14:sldId id="407"/>
            <p14:sldId id="408"/>
            <p14:sldId id="409"/>
            <p14:sldId id="406"/>
            <p14:sldId id="398"/>
            <p14:sldId id="454"/>
            <p14:sldId id="455"/>
            <p14:sldId id="456"/>
            <p14:sldId id="457"/>
            <p14:sldId id="458"/>
            <p14:sldId id="459"/>
            <p14:sldId id="468"/>
            <p14:sldId id="462"/>
            <p14:sldId id="463"/>
            <p14:sldId id="460"/>
            <p14:sldId id="461"/>
            <p14:sldId id="464"/>
            <p14:sldId id="465"/>
            <p14:sldId id="467"/>
            <p14:sldId id="466"/>
            <p14:sldId id="447"/>
            <p14:sldId id="399"/>
            <p14:sldId id="448"/>
            <p14:sldId id="449"/>
            <p14:sldId id="450"/>
            <p14:sldId id="4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84" autoAdjust="0"/>
  </p:normalViewPr>
  <p:slideViewPr>
    <p:cSldViewPr snapToGrid="0">
      <p:cViewPr>
        <p:scale>
          <a:sx n="98" d="100"/>
          <a:sy n="98" d="100"/>
        </p:scale>
        <p:origin x="360" y="48"/>
      </p:cViewPr>
      <p:guideLst>
        <p:guide orient="horz" pos="1620"/>
        <p:guide pos="2880"/>
        <p:guide orient="horz" pos="3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894072a34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894072a34_1_5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7300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0468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2702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6016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32439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91361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50060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21117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78377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78919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1225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8309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4503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5033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642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5374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76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8233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0263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2467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2880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50115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19815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60484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2977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66078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25023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32833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80315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14916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40798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894072a34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894072a34_1_20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197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just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7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diaz@unlp.edu.a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073426"/>
            <a:ext cx="8520600" cy="3495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370225" y="2048400"/>
            <a:ext cx="86343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674EA7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 b="1" dirty="0">
                <a:solidFill>
                  <a:srgbClr val="674EA7"/>
                </a:solidFill>
                <a:ea typeface="Calibri" panose="020F0502020204030204" pitchFamily="34" charset="0"/>
              </a:rPr>
              <a:t>Teoría</a:t>
            </a:r>
            <a:r>
              <a:rPr lang="es" sz="2600" b="1" dirty="0">
                <a:solidFill>
                  <a:srgbClr val="674EA7"/>
                </a:solidFill>
                <a:ea typeface="Calibri" panose="020F0502020204030204" pitchFamily="34" charset="0"/>
              </a:rPr>
              <a:t>: </a:t>
            </a:r>
            <a:r>
              <a:rPr lang="es" sz="2600" b="1" dirty="0">
                <a:solidFill>
                  <a:srgbClr val="674E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Javier Díaz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674E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jdiaz@unlp.edu.ar</a:t>
            </a:r>
            <a:endParaRPr lang="es" sz="2600" b="1" dirty="0">
              <a:solidFill>
                <a:srgbClr val="674E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 b="1" dirty="0">
                <a:solidFill>
                  <a:srgbClr val="674E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Práctica: S</a:t>
            </a:r>
            <a:r>
              <a:rPr lang="es" sz="2600" b="1" dirty="0">
                <a:solidFill>
                  <a:srgbClr val="674E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oledad Gomez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674EA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Ulises Cabrera</a:t>
            </a:r>
            <a:endParaRPr sz="2600" dirty="0">
              <a:solidFill>
                <a:srgbClr val="674EA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98" y="1073426"/>
            <a:ext cx="85206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000" b="1" dirty="0">
                <a:solidFill>
                  <a:srgbClr val="674EA7"/>
                </a:solidFill>
              </a:rPr>
              <a:t>Introducción a la Ciberseguridad</a:t>
            </a:r>
            <a:endParaRPr sz="4000" b="1" dirty="0">
              <a:solidFill>
                <a:srgbClr val="674EA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Estructuras Ciberseguridad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sz="2200" dirty="0"/>
              <a:t>Comprender las funciones del SOC (Security </a:t>
            </a:r>
            <a:r>
              <a:rPr lang="es-AR" sz="2200" dirty="0" err="1"/>
              <a:t>Operations</a:t>
            </a:r>
            <a:r>
              <a:rPr lang="es-AR" sz="2200" dirty="0"/>
              <a:t> Center) y del CSIRT (</a:t>
            </a:r>
            <a:r>
              <a:rPr lang="es-AR" sz="2200" dirty="0" err="1"/>
              <a:t>Computer</a:t>
            </a:r>
            <a:r>
              <a:rPr lang="es-AR" sz="2200" dirty="0"/>
              <a:t> Security </a:t>
            </a:r>
            <a:r>
              <a:rPr lang="es-AR" sz="2200" dirty="0" err="1"/>
              <a:t>Incident</a:t>
            </a:r>
            <a:r>
              <a:rPr lang="es-AR" sz="2200" dirty="0"/>
              <a:t> Response </a:t>
            </a:r>
            <a:r>
              <a:rPr lang="es-AR" sz="2200" dirty="0" err="1"/>
              <a:t>Team</a:t>
            </a:r>
            <a:r>
              <a:rPr lang="es-AR" sz="2200" dirty="0"/>
              <a:t>).</a:t>
            </a:r>
          </a:p>
          <a:p>
            <a:r>
              <a:rPr lang="es-AR" sz="2200" dirty="0"/>
              <a:t>Reconocer herramientas open </a:t>
            </a:r>
            <a:r>
              <a:rPr lang="es-AR" sz="2200" dirty="0" err="1"/>
              <a:t>source</a:t>
            </a:r>
            <a:r>
              <a:rPr lang="es-AR" sz="2200" dirty="0"/>
              <a:t> clave para monitoreo, detección y respuesta.</a:t>
            </a:r>
          </a:p>
          <a:p>
            <a:r>
              <a:rPr lang="es-AR" sz="2200" dirty="0"/>
              <a:t>Identificar el flujo de trabajo integral de detección, análisis y remediación de incidentes.</a:t>
            </a:r>
          </a:p>
        </p:txBody>
      </p:sp>
    </p:spTree>
    <p:extLst>
      <p:ext uri="{BB962C8B-B14F-4D97-AF65-F5344CB8AC3E}">
        <p14:creationId xmlns:p14="http://schemas.microsoft.com/office/powerpoint/2010/main" val="237330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Estructuras Ciberseguridad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/>
              <a:t>SOC (Security </a:t>
            </a:r>
            <a:r>
              <a:rPr lang="es-AR" b="1" dirty="0" err="1"/>
              <a:t>Operations</a:t>
            </a:r>
            <a:r>
              <a:rPr lang="es-AR" b="1" dirty="0"/>
              <a:t> Center)</a:t>
            </a:r>
            <a:endParaRPr lang="es-AR" dirty="0"/>
          </a:p>
          <a:p>
            <a:pPr lvl="1"/>
            <a:r>
              <a:rPr lang="es-AR" b="1" dirty="0"/>
              <a:t>Monitorear</a:t>
            </a:r>
            <a:r>
              <a:rPr lang="es-AR" dirty="0"/>
              <a:t> en tiempo real la infraestructura.</a:t>
            </a:r>
          </a:p>
          <a:p>
            <a:pPr lvl="1"/>
            <a:r>
              <a:rPr lang="es-AR" dirty="0"/>
              <a:t>Uso de </a:t>
            </a:r>
            <a:r>
              <a:rPr lang="es-AR" b="1" dirty="0"/>
              <a:t>SIEM, IDS/IPS, EDR</a:t>
            </a:r>
            <a:r>
              <a:rPr lang="es-AR" dirty="0"/>
              <a:t>.</a:t>
            </a:r>
          </a:p>
          <a:p>
            <a:pPr lvl="1"/>
            <a:r>
              <a:rPr lang="es-AR" dirty="0"/>
              <a:t>Detección y respuesta inicial a incidentes.</a:t>
            </a:r>
          </a:p>
          <a:p>
            <a:pPr lvl="1"/>
            <a:r>
              <a:rPr lang="es-AR" dirty="0"/>
              <a:t>Generación de alertas y reportes.</a:t>
            </a:r>
          </a:p>
          <a:p>
            <a:r>
              <a:rPr lang="es-AR" b="1" dirty="0"/>
              <a:t>CSIRT (</a:t>
            </a:r>
            <a:r>
              <a:rPr lang="es-AR" b="1" dirty="0" err="1"/>
              <a:t>Computer</a:t>
            </a:r>
            <a:r>
              <a:rPr lang="es-AR" b="1" dirty="0"/>
              <a:t> Security </a:t>
            </a:r>
            <a:r>
              <a:rPr lang="es-AR" b="1" dirty="0" err="1"/>
              <a:t>Incident</a:t>
            </a:r>
            <a:r>
              <a:rPr lang="es-AR" b="1" dirty="0"/>
              <a:t> Response </a:t>
            </a:r>
            <a:r>
              <a:rPr lang="es-AR" b="1" dirty="0" err="1"/>
              <a:t>Team</a:t>
            </a:r>
            <a:r>
              <a:rPr lang="es-AR" b="1" dirty="0"/>
              <a:t>)</a:t>
            </a:r>
          </a:p>
          <a:p>
            <a:pPr lvl="1"/>
            <a:r>
              <a:rPr lang="es-AR" b="1" dirty="0"/>
              <a:t>Gestión completa de incidentes</a:t>
            </a:r>
            <a:r>
              <a:rPr lang="es-AR" dirty="0"/>
              <a:t> (detección, contención, erradicación, recuperación).</a:t>
            </a:r>
          </a:p>
          <a:p>
            <a:pPr lvl="1"/>
            <a:r>
              <a:rPr lang="es-AR" dirty="0"/>
              <a:t>Coordinación con organismos externos y reguladores.</a:t>
            </a:r>
          </a:p>
          <a:p>
            <a:pPr lvl="1"/>
            <a:r>
              <a:rPr lang="es-AR" b="1" dirty="0"/>
              <a:t>Análisis forense</a:t>
            </a:r>
            <a:r>
              <a:rPr lang="es-AR" dirty="0"/>
              <a:t> y lecciones aprendidas.</a:t>
            </a:r>
          </a:p>
          <a:p>
            <a:pPr lvl="1"/>
            <a:r>
              <a:rPr lang="es-AR" dirty="0"/>
              <a:t>Elaborar planes de </a:t>
            </a:r>
            <a:r>
              <a:rPr lang="es-AR" b="1" dirty="0"/>
              <a:t>respuesta y continuidad</a:t>
            </a:r>
            <a:r>
              <a:rPr lang="es-AR" dirty="0"/>
              <a:t>.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2363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Herramientas para SOC y CSIRT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b="1" dirty="0"/>
              <a:t>SIEM:</a:t>
            </a:r>
            <a:r>
              <a:rPr lang="es-AR" dirty="0"/>
              <a:t> una herramienta de ciberseguridad que: </a:t>
            </a:r>
          </a:p>
          <a:p>
            <a:pPr lvl="0"/>
            <a:r>
              <a:rPr lang="es-AR" b="1" dirty="0"/>
              <a:t>Centraliza logs:</a:t>
            </a:r>
            <a:r>
              <a:rPr lang="es-AR" dirty="0"/>
              <a:t> Recopila información de seguridad (registros) de servidores, aplicaciones, dispositivos de red y </a:t>
            </a:r>
            <a:r>
              <a:rPr lang="es-AR" dirty="0" err="1"/>
              <a:t>endpoints</a:t>
            </a:r>
            <a:r>
              <a:rPr lang="es-AR" dirty="0"/>
              <a:t> en una única ubicación. </a:t>
            </a:r>
          </a:p>
          <a:p>
            <a:r>
              <a:rPr lang="es-AR" b="1" dirty="0"/>
              <a:t>Analiza eventos:</a:t>
            </a:r>
            <a:r>
              <a:rPr lang="es-AR" dirty="0"/>
              <a:t> </a:t>
            </a:r>
          </a:p>
          <a:p>
            <a:r>
              <a:rPr lang="es-AR" dirty="0"/>
              <a:t>Procesa y correlaciona los datos para identificar patrones, anomalías y posibles amenazas de seguridad. </a:t>
            </a:r>
          </a:p>
          <a:p>
            <a:r>
              <a:rPr lang="es-AR" b="1" dirty="0"/>
              <a:t>Alerta y responde:</a:t>
            </a:r>
            <a:r>
              <a:rPr lang="es-AR" dirty="0"/>
              <a:t> </a:t>
            </a:r>
          </a:p>
          <a:p>
            <a:r>
              <a:rPr lang="es-AR" dirty="0"/>
              <a:t>Notifica a los equipos de seguridad sobre incidentes críticos y ayuda en la investigación y respuesta a ataques. </a:t>
            </a:r>
          </a:p>
        </p:txBody>
      </p:sp>
    </p:spTree>
    <p:extLst>
      <p:ext uri="{BB962C8B-B14F-4D97-AF65-F5344CB8AC3E}">
        <p14:creationId xmlns:p14="http://schemas.microsoft.com/office/powerpoint/2010/main" val="57476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SIEM Open </a:t>
            </a:r>
            <a:r>
              <a:rPr lang="es-ES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 err="1"/>
              <a:t>Graylog</a:t>
            </a:r>
            <a:r>
              <a:rPr lang="es-AR" b="1" dirty="0"/>
              <a:t>: Una plataforma popular de gestión de logs que ofrece funcionalidades para buscar, visualizar y analizar datos de eventos. </a:t>
            </a:r>
          </a:p>
          <a:p>
            <a:r>
              <a:rPr lang="es-AR" b="1" dirty="0" err="1"/>
              <a:t>Stack</a:t>
            </a:r>
            <a:r>
              <a:rPr lang="es-AR" b="1" dirty="0"/>
              <a:t> ELK (</a:t>
            </a:r>
            <a:r>
              <a:rPr lang="es-AR" b="1" dirty="0" err="1"/>
              <a:t>Elasticsearch</a:t>
            </a:r>
            <a:r>
              <a:rPr lang="es-AR" b="1" dirty="0"/>
              <a:t>, </a:t>
            </a:r>
            <a:r>
              <a:rPr lang="es-AR" b="1" dirty="0" err="1"/>
              <a:t>Logstash</a:t>
            </a:r>
            <a:r>
              <a:rPr lang="es-AR" b="1" dirty="0"/>
              <a:t>, </a:t>
            </a:r>
            <a:r>
              <a:rPr lang="es-AR" b="1" dirty="0" err="1"/>
              <a:t>Kibana</a:t>
            </a:r>
            <a:r>
              <a:rPr lang="es-AR" b="1" dirty="0"/>
              <a:t>): </a:t>
            </a:r>
          </a:p>
          <a:p>
            <a:pPr lvl="1"/>
            <a:r>
              <a:rPr lang="es-AR" b="1" dirty="0" err="1"/>
              <a:t>Elasticsearch</a:t>
            </a:r>
            <a:r>
              <a:rPr lang="es-AR" b="1" dirty="0"/>
              <a:t>: Un motor de búsqueda y análisis de datos distribuido. </a:t>
            </a:r>
          </a:p>
          <a:p>
            <a:pPr lvl="1"/>
            <a:r>
              <a:rPr lang="es-AR" b="1" dirty="0" err="1"/>
              <a:t>Logstash</a:t>
            </a:r>
            <a:r>
              <a:rPr lang="es-AR" b="1" dirty="0"/>
              <a:t>: Un pipeline de procesamiento de datos que ingiere datos de múltiples fuentes y los envía a un "</a:t>
            </a:r>
            <a:r>
              <a:rPr lang="es-AR" b="1" dirty="0" err="1"/>
              <a:t>stash</a:t>
            </a:r>
            <a:r>
              <a:rPr lang="es-AR" b="1" dirty="0"/>
              <a:t>" como </a:t>
            </a:r>
            <a:r>
              <a:rPr lang="es-AR" b="1" dirty="0" err="1"/>
              <a:t>Elasticsearch</a:t>
            </a:r>
            <a:r>
              <a:rPr lang="es-AR" b="1" dirty="0"/>
              <a:t>. </a:t>
            </a:r>
          </a:p>
          <a:p>
            <a:pPr lvl="1"/>
            <a:r>
              <a:rPr lang="es-AR" b="1" dirty="0" err="1"/>
              <a:t>Kibana</a:t>
            </a:r>
            <a:r>
              <a:rPr lang="es-AR" b="1" dirty="0"/>
              <a:t>: Una interfaz de visualización que permite explorar los datos y crear cuadros de mando (</a:t>
            </a:r>
            <a:r>
              <a:rPr lang="es-AR" b="1" dirty="0" err="1"/>
              <a:t>dashboards</a:t>
            </a:r>
            <a:r>
              <a:rPr lang="es-AR" b="1" dirty="0"/>
              <a:t>). </a:t>
            </a:r>
          </a:p>
          <a:p>
            <a:r>
              <a:rPr lang="es-AR" b="1" dirty="0"/>
              <a:t>OSSIM (Open </a:t>
            </a:r>
            <a:r>
              <a:rPr lang="es-AR" b="1" dirty="0" err="1"/>
              <a:t>Source</a:t>
            </a:r>
            <a:r>
              <a:rPr lang="es-AR" b="1" dirty="0"/>
              <a:t> Security </a:t>
            </a:r>
            <a:r>
              <a:rPr lang="es-AR" b="1" dirty="0" err="1"/>
              <a:t>Information</a:t>
            </a:r>
            <a:r>
              <a:rPr lang="es-AR" b="1" dirty="0"/>
              <a:t> Management) y Security </a:t>
            </a:r>
            <a:r>
              <a:rPr lang="es-AR" b="1" dirty="0" err="1"/>
              <a:t>Onion</a:t>
            </a:r>
            <a:r>
              <a:rPr lang="es-AR" b="1" dirty="0"/>
              <a:t>: </a:t>
            </a:r>
            <a:r>
              <a:rPr lang="es-AR" dirty="0"/>
              <a:t>Soluciones completas que integran otras herramientas de código abierto para ofrecer una plataforma SIEM más integrada. </a:t>
            </a:r>
          </a:p>
        </p:txBody>
      </p:sp>
    </p:spTree>
    <p:extLst>
      <p:ext uri="{BB962C8B-B14F-4D97-AF65-F5344CB8AC3E}">
        <p14:creationId xmlns:p14="http://schemas.microsoft.com/office/powerpoint/2010/main" val="346995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SOC (Security </a:t>
            </a:r>
            <a:r>
              <a:rPr lang="es-AR" dirty="0" err="1"/>
              <a:t>Operations</a:t>
            </a:r>
            <a:r>
              <a:rPr lang="es-AR" dirty="0"/>
              <a:t> Center)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dirty="0"/>
              <a:t>Monitoreo en tiempo real de la infraestructura</a:t>
            </a:r>
          </a:p>
          <a:p>
            <a:pPr lvl="1"/>
            <a:r>
              <a:rPr lang="es-AR" b="1" dirty="0" err="1"/>
              <a:t>Zabbix</a:t>
            </a:r>
            <a:r>
              <a:rPr lang="es-AR" dirty="0"/>
              <a:t> / </a:t>
            </a:r>
            <a:r>
              <a:rPr lang="es-AR" b="1" dirty="0"/>
              <a:t>Nagios</a:t>
            </a:r>
            <a:r>
              <a:rPr lang="es-AR" dirty="0"/>
              <a:t> → monitoreo de infraestructura y servicios.</a:t>
            </a:r>
          </a:p>
          <a:p>
            <a:pPr lvl="1"/>
            <a:r>
              <a:rPr lang="es-AR" b="1" dirty="0" err="1"/>
              <a:t>Prometheus</a:t>
            </a:r>
            <a:r>
              <a:rPr lang="es-AR" b="1" dirty="0"/>
              <a:t> + </a:t>
            </a:r>
            <a:r>
              <a:rPr lang="es-AR" b="1" dirty="0" err="1"/>
              <a:t>Grafana</a:t>
            </a:r>
            <a:r>
              <a:rPr lang="es-AR" dirty="0"/>
              <a:t> → métricas y </a:t>
            </a:r>
            <a:r>
              <a:rPr lang="es-AR" dirty="0" err="1"/>
              <a:t>dashboards</a:t>
            </a:r>
            <a:r>
              <a:rPr lang="es-AR" dirty="0"/>
              <a:t> en tiempo real.</a:t>
            </a:r>
          </a:p>
          <a:p>
            <a:pPr lvl="1"/>
            <a:r>
              <a:rPr lang="es-AR" b="1" dirty="0" err="1"/>
              <a:t>Elastalert</a:t>
            </a:r>
            <a:r>
              <a:rPr lang="es-AR" dirty="0"/>
              <a:t> (con </a:t>
            </a:r>
            <a:r>
              <a:rPr lang="es-AR" dirty="0" err="1"/>
              <a:t>Elastic</a:t>
            </a:r>
            <a:r>
              <a:rPr lang="es-AR" dirty="0"/>
              <a:t> </a:t>
            </a:r>
            <a:r>
              <a:rPr lang="es-AR" dirty="0" err="1"/>
              <a:t>Stack</a:t>
            </a:r>
            <a:r>
              <a:rPr lang="es-AR" dirty="0"/>
              <a:t>) → alertas basadas en logs.</a:t>
            </a:r>
          </a:p>
          <a:p>
            <a:pPr lvl="1"/>
            <a:endParaRPr lang="es-AR" dirty="0"/>
          </a:p>
          <a:p>
            <a:r>
              <a:rPr lang="en-US" b="1" dirty="0"/>
              <a:t>SIEM, IDS/IPS, EDR</a:t>
            </a:r>
            <a:endParaRPr lang="es-AR" b="1" dirty="0"/>
          </a:p>
          <a:p>
            <a:pPr lvl="1"/>
            <a:r>
              <a:rPr lang="es-AR" b="1" dirty="0" err="1"/>
              <a:t>Wazuh</a:t>
            </a:r>
            <a:r>
              <a:rPr lang="es-AR" dirty="0"/>
              <a:t> → SIEM open </a:t>
            </a:r>
            <a:r>
              <a:rPr lang="es-AR" dirty="0" err="1"/>
              <a:t>source</a:t>
            </a:r>
            <a:r>
              <a:rPr lang="es-AR" dirty="0"/>
              <a:t> con correlación de eventos, integración con </a:t>
            </a:r>
            <a:r>
              <a:rPr lang="es-AR" dirty="0" err="1"/>
              <a:t>Elastic</a:t>
            </a:r>
            <a:r>
              <a:rPr lang="es-AR" dirty="0"/>
              <a:t>, capacidades de EDR.</a:t>
            </a:r>
          </a:p>
          <a:p>
            <a:pPr lvl="1"/>
            <a:r>
              <a:rPr lang="es-AR" b="1" dirty="0" err="1"/>
              <a:t>TheHive</a:t>
            </a:r>
            <a:r>
              <a:rPr lang="es-AR" dirty="0"/>
              <a:t> → gestión de incidentes, integrable con </a:t>
            </a:r>
            <a:r>
              <a:rPr lang="es-AR" dirty="0" err="1"/>
              <a:t>Cortex</a:t>
            </a:r>
            <a:r>
              <a:rPr lang="es-AR" dirty="0"/>
              <a:t> y MISP.</a:t>
            </a:r>
          </a:p>
          <a:p>
            <a:pPr lvl="1"/>
            <a:r>
              <a:rPr lang="es-AR" b="1" dirty="0" err="1"/>
              <a:t>Suricata</a:t>
            </a:r>
            <a:r>
              <a:rPr lang="es-AR" dirty="0"/>
              <a:t> → IDS/IPS de red con soporte para detección avanzada.</a:t>
            </a:r>
          </a:p>
          <a:p>
            <a:pPr lvl="1"/>
            <a:r>
              <a:rPr lang="es-AR" b="1" dirty="0" err="1"/>
              <a:t>Snort</a:t>
            </a:r>
            <a:r>
              <a:rPr lang="es-AR" dirty="0"/>
              <a:t> → IDS/IPS muy usado en entornos SOC.</a:t>
            </a:r>
          </a:p>
          <a:p>
            <a:pPr lvl="1"/>
            <a:r>
              <a:rPr lang="es-AR" b="1" dirty="0" err="1"/>
              <a:t>Osquery</a:t>
            </a:r>
            <a:r>
              <a:rPr lang="es-AR" dirty="0"/>
              <a:t> → para monitoreo y análisis de </a:t>
            </a:r>
            <a:r>
              <a:rPr lang="es-AR" dirty="0" err="1"/>
              <a:t>endpoints</a:t>
            </a:r>
            <a:r>
              <a:rPr lang="es-AR" dirty="0"/>
              <a:t> (similar a EDR).</a:t>
            </a:r>
          </a:p>
          <a:p>
            <a:pPr lvl="1"/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90127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SOC (Security </a:t>
            </a:r>
            <a:r>
              <a:rPr lang="es-AR" dirty="0" err="1"/>
              <a:t>Operations</a:t>
            </a:r>
            <a:r>
              <a:rPr lang="es-AR" dirty="0"/>
              <a:t> Center)…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b="1" dirty="0"/>
              <a:t>Detección y respuesta inicial a incidentes</a:t>
            </a:r>
          </a:p>
          <a:p>
            <a:pPr lvl="1"/>
            <a:r>
              <a:rPr lang="es-AR" b="1" dirty="0" err="1"/>
              <a:t>Cortex</a:t>
            </a:r>
            <a:r>
              <a:rPr lang="es-AR" b="1" dirty="0"/>
              <a:t> (integrado con </a:t>
            </a:r>
            <a:r>
              <a:rPr lang="es-AR" b="1" dirty="0" err="1"/>
              <a:t>TheHive</a:t>
            </a:r>
            <a:r>
              <a:rPr lang="es-AR" b="1" dirty="0"/>
              <a:t>) → automatiza respuestas y análisis de </a:t>
            </a:r>
            <a:r>
              <a:rPr lang="es-AR" b="1" dirty="0" err="1"/>
              <a:t>IOCs</a:t>
            </a:r>
            <a:r>
              <a:rPr lang="es-AR" b="1" dirty="0"/>
              <a:t>.</a:t>
            </a:r>
          </a:p>
          <a:p>
            <a:pPr lvl="1"/>
            <a:r>
              <a:rPr lang="es-AR" b="1" dirty="0"/>
              <a:t>MISP (Malware </a:t>
            </a:r>
            <a:r>
              <a:rPr lang="es-AR" b="1" dirty="0" err="1"/>
              <a:t>Information</a:t>
            </a:r>
            <a:r>
              <a:rPr lang="es-AR" b="1" dirty="0"/>
              <a:t> </a:t>
            </a:r>
            <a:r>
              <a:rPr lang="es-AR" b="1" dirty="0" err="1"/>
              <a:t>Sharing</a:t>
            </a:r>
            <a:r>
              <a:rPr lang="es-AR" b="1" dirty="0"/>
              <a:t> </a:t>
            </a:r>
            <a:r>
              <a:rPr lang="es-AR" b="1" dirty="0" err="1"/>
              <a:t>Platform</a:t>
            </a:r>
            <a:r>
              <a:rPr lang="es-AR" b="1" dirty="0"/>
              <a:t>) → intercambio de indicadores de compromiso.</a:t>
            </a:r>
          </a:p>
          <a:p>
            <a:pPr lvl="1"/>
            <a:r>
              <a:rPr lang="es-AR" b="1" dirty="0" err="1"/>
              <a:t>Velociraptor</a:t>
            </a:r>
            <a:r>
              <a:rPr lang="es-AR" b="1" dirty="0"/>
              <a:t> → recolección y análisis forense en </a:t>
            </a:r>
            <a:r>
              <a:rPr lang="es-AR" b="1" dirty="0" err="1"/>
              <a:t>endpoints</a:t>
            </a:r>
            <a:r>
              <a:rPr lang="es-AR" b="1" dirty="0"/>
              <a:t>.</a:t>
            </a:r>
          </a:p>
          <a:p>
            <a:pPr lvl="1"/>
            <a:endParaRPr lang="es-AR" b="1" dirty="0"/>
          </a:p>
          <a:p>
            <a:r>
              <a:rPr lang="es-AR" b="1" dirty="0"/>
              <a:t>Generación de alertas y reportes</a:t>
            </a:r>
          </a:p>
          <a:p>
            <a:pPr lvl="1"/>
            <a:r>
              <a:rPr lang="es-AR" b="1" dirty="0" err="1"/>
              <a:t>Elastic</a:t>
            </a:r>
            <a:r>
              <a:rPr lang="es-AR" b="1" dirty="0"/>
              <a:t> </a:t>
            </a:r>
            <a:r>
              <a:rPr lang="es-AR" b="1" dirty="0" err="1"/>
              <a:t>Stack</a:t>
            </a:r>
            <a:r>
              <a:rPr lang="es-AR" b="1" dirty="0"/>
              <a:t> (ELK: </a:t>
            </a:r>
            <a:r>
              <a:rPr lang="es-AR" b="1" dirty="0" err="1"/>
              <a:t>Elasticsearch</a:t>
            </a:r>
            <a:r>
              <a:rPr lang="es-AR" b="1" dirty="0"/>
              <a:t>, </a:t>
            </a:r>
            <a:r>
              <a:rPr lang="es-AR" b="1" dirty="0" err="1"/>
              <a:t>Logstash</a:t>
            </a:r>
            <a:r>
              <a:rPr lang="es-AR" b="1" dirty="0"/>
              <a:t>, </a:t>
            </a:r>
            <a:r>
              <a:rPr lang="es-AR" b="1" dirty="0" err="1"/>
              <a:t>Kibana</a:t>
            </a:r>
            <a:r>
              <a:rPr lang="es-AR" b="1" dirty="0"/>
              <a:t>) → procesamiento y visualización de logs.</a:t>
            </a:r>
          </a:p>
          <a:p>
            <a:pPr lvl="1"/>
            <a:r>
              <a:rPr lang="es-AR" b="1" dirty="0" err="1"/>
              <a:t>Graylog</a:t>
            </a:r>
            <a:r>
              <a:rPr lang="es-AR" b="1" dirty="0"/>
              <a:t> → alternativa ligera para centralización de logs y </a:t>
            </a:r>
            <a:r>
              <a:rPr lang="es-AR" b="1" dirty="0" err="1"/>
              <a:t>dashboards</a:t>
            </a:r>
            <a:r>
              <a:rPr lang="es-AR" b="1" dirty="0"/>
              <a:t>.</a:t>
            </a:r>
          </a:p>
          <a:p>
            <a:pPr lvl="1"/>
            <a:r>
              <a:rPr lang="es-AR" b="1" dirty="0" err="1"/>
              <a:t>Grafana</a:t>
            </a:r>
            <a:r>
              <a:rPr lang="es-AR" b="1" dirty="0"/>
              <a:t> Loki → recolección de logs con visualización en </a:t>
            </a:r>
            <a:r>
              <a:rPr lang="es-AR" b="1" dirty="0" err="1"/>
              <a:t>Grafana</a:t>
            </a:r>
            <a:r>
              <a:rPr lang="es-AR" b="1" dirty="0"/>
              <a:t>.</a:t>
            </a:r>
          </a:p>
          <a:p>
            <a:pPr lvl="2"/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50552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/>
              <a:t>CSIRT (Computer Security Incident Response </a:t>
            </a:r>
            <a:r>
              <a:rPr lang="en-US" b="1" dirty="0"/>
              <a:t>Team)</a:t>
            </a:r>
            <a:endParaRPr lang="es-AR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2400" b="1" dirty="0"/>
              <a:t>Gestión completa de incidentes</a:t>
            </a:r>
          </a:p>
          <a:p>
            <a:pPr lvl="1"/>
            <a:r>
              <a:rPr lang="es-AR" sz="1800" b="1" dirty="0" err="1"/>
              <a:t>TheHive</a:t>
            </a:r>
            <a:r>
              <a:rPr lang="es-AR" sz="1800" b="1" dirty="0"/>
              <a:t> Project → plataforma de gestión de casos de incidentes.</a:t>
            </a:r>
          </a:p>
          <a:p>
            <a:pPr lvl="1"/>
            <a:r>
              <a:rPr lang="es-AR" sz="1800" b="1" dirty="0"/>
              <a:t>RTIR (</a:t>
            </a:r>
            <a:r>
              <a:rPr lang="es-AR" sz="1800" b="1" dirty="0" err="1"/>
              <a:t>Request</a:t>
            </a:r>
            <a:r>
              <a:rPr lang="es-AR" sz="1800" b="1" dirty="0"/>
              <a:t> </a:t>
            </a:r>
            <a:r>
              <a:rPr lang="es-AR" sz="1800" b="1" dirty="0" err="1"/>
              <a:t>Tracker</a:t>
            </a:r>
            <a:r>
              <a:rPr lang="es-AR" sz="1800" b="1" dirty="0"/>
              <a:t> </a:t>
            </a:r>
            <a:r>
              <a:rPr lang="es-AR" sz="1800" b="1" dirty="0" err="1"/>
              <a:t>for</a:t>
            </a:r>
            <a:r>
              <a:rPr lang="es-AR" sz="1800" b="1" dirty="0"/>
              <a:t> </a:t>
            </a:r>
            <a:r>
              <a:rPr lang="es-AR" sz="1800" b="1" dirty="0" err="1"/>
              <a:t>Incident</a:t>
            </a:r>
            <a:r>
              <a:rPr lang="es-AR" sz="1800" b="1" dirty="0"/>
              <a:t> Response) → herramienta de tickets especializada en IR.</a:t>
            </a:r>
          </a:p>
          <a:p>
            <a:r>
              <a:rPr lang="es-AR" sz="2400" b="1" dirty="0"/>
              <a:t>Coordinación con organismos externos y reguladores</a:t>
            </a:r>
          </a:p>
          <a:p>
            <a:pPr lvl="1"/>
            <a:r>
              <a:rPr lang="es-AR" sz="1800" b="1" dirty="0"/>
              <a:t>MISP → permite compartir indicadores de compromiso (</a:t>
            </a:r>
            <a:r>
              <a:rPr lang="es-AR" sz="1800" b="1" dirty="0" err="1"/>
              <a:t>IOCs</a:t>
            </a:r>
            <a:r>
              <a:rPr lang="es-AR" sz="1800" b="1" dirty="0"/>
              <a:t>) con comunidades y organismos.</a:t>
            </a:r>
          </a:p>
          <a:p>
            <a:pPr lvl="1"/>
            <a:r>
              <a:rPr lang="es-AR" sz="1800" b="1" dirty="0" err="1"/>
              <a:t>OpenDXL</a:t>
            </a:r>
            <a:r>
              <a:rPr lang="es-AR" sz="1800" b="1" dirty="0"/>
              <a:t> (McAfee, open </a:t>
            </a:r>
            <a:r>
              <a:rPr lang="es-AR" sz="1800" b="1" dirty="0" err="1"/>
              <a:t>source</a:t>
            </a:r>
            <a:r>
              <a:rPr lang="es-AR" sz="1800" b="1" dirty="0"/>
              <a:t>) → para orquestar y compartir información de amenazas.</a:t>
            </a:r>
          </a:p>
          <a:p>
            <a:pPr lvl="2"/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2210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/>
              <a:t>CSIRT…</a:t>
            </a:r>
            <a:endParaRPr lang="es-AR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2400" b="1" dirty="0"/>
              <a:t>Análisis forense y lecciones aprendidas</a:t>
            </a:r>
          </a:p>
          <a:p>
            <a:pPr lvl="1"/>
            <a:r>
              <a:rPr lang="es-AR" sz="1700" b="1" dirty="0" err="1"/>
              <a:t>Autopsy</a:t>
            </a:r>
            <a:r>
              <a:rPr lang="es-AR" sz="1700" b="1" dirty="0"/>
              <a:t> / </a:t>
            </a:r>
            <a:r>
              <a:rPr lang="es-AR" sz="1700" b="1" dirty="0" err="1"/>
              <a:t>Sleuth</a:t>
            </a:r>
            <a:r>
              <a:rPr lang="es-AR" sz="1700" b="1" dirty="0"/>
              <a:t> Kit → análisis forense de discos e imágenes.</a:t>
            </a:r>
          </a:p>
          <a:p>
            <a:pPr lvl="1"/>
            <a:r>
              <a:rPr lang="es-AR" sz="1700" b="1" dirty="0" err="1"/>
              <a:t>Volatility</a:t>
            </a:r>
            <a:r>
              <a:rPr lang="es-AR" sz="1700" b="1" dirty="0"/>
              <a:t> / </a:t>
            </a:r>
            <a:r>
              <a:rPr lang="es-AR" sz="1700" b="1" dirty="0" err="1"/>
              <a:t>Rekall</a:t>
            </a:r>
            <a:r>
              <a:rPr lang="es-AR" sz="1700" b="1" dirty="0"/>
              <a:t> → análisis forense de memoria.</a:t>
            </a:r>
          </a:p>
          <a:p>
            <a:pPr lvl="1"/>
            <a:r>
              <a:rPr lang="es-AR" sz="1700" b="1" dirty="0" err="1"/>
              <a:t>Plaso</a:t>
            </a:r>
            <a:r>
              <a:rPr lang="es-AR" sz="1700" b="1" dirty="0"/>
              <a:t> (log2timeline) → análisis forense de líneas de tiempo de logs.</a:t>
            </a:r>
          </a:p>
          <a:p>
            <a:r>
              <a:rPr lang="es-AR" sz="2400" b="1" dirty="0"/>
              <a:t>Planes de respuesta y continuidad</a:t>
            </a:r>
          </a:p>
          <a:p>
            <a:pPr lvl="1"/>
            <a:r>
              <a:rPr lang="es-AR" sz="1700" b="1" dirty="0"/>
              <a:t>DRLM (</a:t>
            </a:r>
            <a:r>
              <a:rPr lang="es-AR" sz="1700" b="1" dirty="0" err="1"/>
              <a:t>Disaster</a:t>
            </a:r>
            <a:r>
              <a:rPr lang="es-AR" sz="1700" b="1" dirty="0"/>
              <a:t> </a:t>
            </a:r>
            <a:r>
              <a:rPr lang="es-AR" sz="1700" b="1" dirty="0" err="1"/>
              <a:t>Recovery</a:t>
            </a:r>
            <a:r>
              <a:rPr lang="es-AR" sz="1700" b="1" dirty="0"/>
              <a:t> Linux Manager) → para gestión de recuperación ante desastres.</a:t>
            </a:r>
          </a:p>
          <a:p>
            <a:pPr lvl="1"/>
            <a:r>
              <a:rPr lang="es-AR" sz="1700" b="1" dirty="0" err="1"/>
              <a:t>Odoo</a:t>
            </a:r>
            <a:r>
              <a:rPr lang="es-AR" sz="1700" b="1" dirty="0"/>
              <a:t> </a:t>
            </a:r>
            <a:r>
              <a:rPr lang="es-AR" sz="1700" b="1" dirty="0" err="1"/>
              <a:t>Community</a:t>
            </a:r>
            <a:r>
              <a:rPr lang="es-AR" sz="1700" b="1" dirty="0"/>
              <a:t> (con módulos IR/BCP) → ERP adaptable para documentar planes de continuidad.</a:t>
            </a:r>
          </a:p>
          <a:p>
            <a:pPr lvl="1"/>
            <a:r>
              <a:rPr lang="es-AR" sz="1700" b="1" dirty="0" err="1"/>
              <a:t>LibreNMS</a:t>
            </a:r>
            <a:r>
              <a:rPr lang="es-AR" sz="1700" b="1" dirty="0"/>
              <a:t> + Ansible → automatización de restauración y continuidad en infraestructura</a:t>
            </a:r>
            <a:r>
              <a:rPr lang="es-AR" sz="2000" b="1" dirty="0"/>
              <a:t>.</a:t>
            </a:r>
          </a:p>
          <a:p>
            <a:pPr lvl="3"/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396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 err="1"/>
              <a:t>Combinación</a:t>
            </a:r>
            <a:r>
              <a:rPr lang="en-US" sz="2600" b="1" dirty="0"/>
              <a:t> </a:t>
            </a:r>
            <a:r>
              <a:rPr lang="en-US" sz="2600" b="1" dirty="0" err="1"/>
              <a:t>típica</a:t>
            </a:r>
            <a:r>
              <a:rPr lang="en-US" sz="2600" b="1" dirty="0"/>
              <a:t> SOC/CSIRT open source:</a:t>
            </a:r>
            <a:endParaRPr lang="es-AR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763145" cy="3416400"/>
          </a:xfrm>
        </p:spPr>
        <p:txBody>
          <a:bodyPr/>
          <a:lstStyle/>
          <a:p>
            <a:pPr marL="114300" indent="0">
              <a:buNone/>
            </a:pPr>
            <a:r>
              <a:rPr lang="es-AR" sz="2000" b="1" dirty="0" err="1"/>
              <a:t>Wazuh</a:t>
            </a:r>
            <a:r>
              <a:rPr lang="es-AR" sz="2000" b="1" dirty="0"/>
              <a:t> + ELK </a:t>
            </a:r>
            <a:r>
              <a:rPr lang="es-AR" sz="2000" b="1" dirty="0" err="1"/>
              <a:t>Stack</a:t>
            </a:r>
            <a:r>
              <a:rPr lang="es-AR" sz="2000" b="1" dirty="0"/>
              <a:t> + </a:t>
            </a:r>
            <a:r>
              <a:rPr lang="es-AR" sz="2000" b="1" dirty="0" err="1"/>
              <a:t>Suricata</a:t>
            </a:r>
            <a:r>
              <a:rPr lang="es-AR" sz="2000" b="1" dirty="0"/>
              <a:t> + </a:t>
            </a:r>
            <a:r>
              <a:rPr lang="es-AR" sz="2000" b="1" dirty="0" err="1"/>
              <a:t>TheHive</a:t>
            </a:r>
            <a:r>
              <a:rPr lang="es-AR" sz="2000" b="1" dirty="0"/>
              <a:t> + </a:t>
            </a:r>
            <a:r>
              <a:rPr lang="es-AR" sz="2000" b="1" dirty="0" err="1"/>
              <a:t>Cortex</a:t>
            </a:r>
            <a:r>
              <a:rPr lang="es-AR" sz="2000" b="1" dirty="0"/>
              <a:t> + MISP + </a:t>
            </a:r>
            <a:r>
              <a:rPr lang="es-AR" sz="2000" b="1" dirty="0" err="1"/>
              <a:t>Velociraptor</a:t>
            </a:r>
            <a:r>
              <a:rPr lang="es-AR" sz="2000" b="1" dirty="0"/>
              <a:t> </a:t>
            </a:r>
          </a:p>
          <a:p>
            <a:r>
              <a:rPr lang="es-AR" sz="2000" b="1" dirty="0"/>
              <a:t>Recopilación de datos y monitorización de seguridad</a:t>
            </a:r>
          </a:p>
          <a:p>
            <a:pPr lvl="1"/>
            <a:r>
              <a:rPr lang="es-AR" sz="1700" dirty="0" err="1"/>
              <a:t>Wazuh</a:t>
            </a:r>
            <a:r>
              <a:rPr lang="es-AR" sz="1700" dirty="0"/>
              <a:t>: Host-</a:t>
            </a:r>
            <a:r>
              <a:rPr lang="es-AR" sz="1700" dirty="0" err="1"/>
              <a:t>based</a:t>
            </a:r>
            <a:r>
              <a:rPr lang="es-AR" sz="1700" dirty="0"/>
              <a:t> </a:t>
            </a:r>
            <a:r>
              <a:rPr lang="es-AR" sz="1700" dirty="0" err="1"/>
              <a:t>Intrusion</a:t>
            </a:r>
            <a:r>
              <a:rPr lang="es-AR" sz="1700" dirty="0"/>
              <a:t> </a:t>
            </a:r>
            <a:r>
              <a:rPr lang="es-AR" sz="1700" dirty="0" err="1"/>
              <a:t>Detection</a:t>
            </a:r>
            <a:r>
              <a:rPr lang="es-AR" sz="1700" dirty="0"/>
              <a:t> </a:t>
            </a:r>
            <a:r>
              <a:rPr lang="es-AR" sz="1700" dirty="0" err="1"/>
              <a:t>System</a:t>
            </a:r>
            <a:r>
              <a:rPr lang="es-AR" sz="1700" dirty="0"/>
              <a:t> (HIDS),</a:t>
            </a:r>
          </a:p>
          <a:p>
            <a:pPr lvl="3"/>
            <a:r>
              <a:rPr lang="es-AR" dirty="0"/>
              <a:t>Log </a:t>
            </a:r>
            <a:r>
              <a:rPr lang="es-AR" dirty="0" err="1"/>
              <a:t>analysis</a:t>
            </a:r>
            <a:r>
              <a:rPr lang="es-AR" dirty="0"/>
              <a:t>: </a:t>
            </a:r>
            <a:r>
              <a:rPr lang="es-AR" dirty="0" err="1"/>
              <a:t>Análiza</a:t>
            </a:r>
            <a:r>
              <a:rPr lang="es-AR" dirty="0"/>
              <a:t> logs de diversas fuentes para detectar actividad sospechosa..</a:t>
            </a:r>
          </a:p>
          <a:p>
            <a:pPr lvl="3"/>
            <a:r>
              <a:rPr lang="es-AR" dirty="0"/>
              <a:t>File </a:t>
            </a:r>
            <a:r>
              <a:rPr lang="es-AR" dirty="0" err="1"/>
              <a:t>integrity</a:t>
            </a:r>
            <a:r>
              <a:rPr lang="es-AR" dirty="0"/>
              <a:t> </a:t>
            </a:r>
            <a:r>
              <a:rPr lang="es-AR" dirty="0" err="1"/>
              <a:t>monitoring</a:t>
            </a:r>
            <a:r>
              <a:rPr lang="es-AR" dirty="0"/>
              <a:t> (FIM): Alerta modificación de archivos críticos del sistema.</a:t>
            </a:r>
          </a:p>
          <a:p>
            <a:pPr lvl="3"/>
            <a:r>
              <a:rPr lang="es-AR" dirty="0" err="1"/>
              <a:t>Vulnerability</a:t>
            </a:r>
            <a:r>
              <a:rPr lang="es-AR" dirty="0"/>
              <a:t> </a:t>
            </a:r>
            <a:r>
              <a:rPr lang="es-AR" dirty="0" err="1"/>
              <a:t>detection</a:t>
            </a:r>
            <a:r>
              <a:rPr lang="es-AR" dirty="0"/>
              <a:t>: Identificación de software obsoleto y vulnerabilidades.</a:t>
            </a:r>
          </a:p>
          <a:p>
            <a:pPr lvl="3"/>
            <a:r>
              <a:rPr lang="es-AR" dirty="0" err="1"/>
              <a:t>Configuration</a:t>
            </a:r>
            <a:r>
              <a:rPr lang="es-AR" dirty="0"/>
              <a:t> </a:t>
            </a:r>
            <a:r>
              <a:rPr lang="es-AR" dirty="0" err="1"/>
              <a:t>assessment</a:t>
            </a:r>
            <a:r>
              <a:rPr lang="es-AR" dirty="0"/>
              <a:t>: Comprobación de configuraciones incorrectas riesgosas .</a:t>
            </a:r>
          </a:p>
          <a:p>
            <a:pPr lvl="1"/>
            <a:r>
              <a:rPr lang="en-US" sz="1700" dirty="0"/>
              <a:t>Suricata: Network Intrusion Detection/Prevention System (NIDS/NIPS)</a:t>
            </a:r>
            <a:r>
              <a:rPr lang="en-US" dirty="0"/>
              <a:t>. </a:t>
            </a:r>
            <a:r>
              <a:rPr lang="es-AR" dirty="0"/>
              <a:t>Monitorea el tráfico de red en tiempo real para detectar amenazas basándose en reglas predefinidas (firmas) y análisis de comportamiento.</a:t>
            </a:r>
          </a:p>
        </p:txBody>
      </p:sp>
    </p:spTree>
    <p:extLst>
      <p:ext uri="{BB962C8B-B14F-4D97-AF65-F5344CB8AC3E}">
        <p14:creationId xmlns:p14="http://schemas.microsoft.com/office/powerpoint/2010/main" val="3600309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 err="1"/>
              <a:t>Combinación</a:t>
            </a:r>
            <a:r>
              <a:rPr lang="en-US" sz="2600" b="1" dirty="0"/>
              <a:t> </a:t>
            </a:r>
            <a:r>
              <a:rPr lang="en-US" sz="2600" b="1" dirty="0" err="1"/>
              <a:t>típica</a:t>
            </a:r>
            <a:r>
              <a:rPr lang="en-US" sz="2600" b="1" dirty="0"/>
              <a:t> SOC/CSIRT open source…</a:t>
            </a:r>
            <a:endParaRPr lang="es-AR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763145" cy="3416400"/>
          </a:xfrm>
        </p:spPr>
        <p:txBody>
          <a:bodyPr/>
          <a:lstStyle/>
          <a:p>
            <a:r>
              <a:rPr lang="es-AR" sz="2000" b="1" dirty="0"/>
              <a:t>Procesamiento y análisis de datos </a:t>
            </a:r>
            <a:r>
              <a:rPr lang="en-US" sz="2000" b="1" dirty="0"/>
              <a:t>(SIEM): ELK Stack (Elasticsearch, Logstash, Kibana):</a:t>
            </a:r>
          </a:p>
          <a:p>
            <a:pPr lvl="1"/>
            <a:r>
              <a:rPr lang="en-US" sz="1700" b="1" dirty="0"/>
              <a:t>Logstash: </a:t>
            </a:r>
            <a:r>
              <a:rPr lang="es-AR" sz="1700" dirty="0"/>
              <a:t>Ingiere y procesa datos de diversas fuentes (como </a:t>
            </a:r>
            <a:r>
              <a:rPr lang="es-AR" sz="1700" dirty="0" err="1"/>
              <a:t>Wazuh</a:t>
            </a:r>
            <a:r>
              <a:rPr lang="es-AR" sz="1700" dirty="0"/>
              <a:t> y </a:t>
            </a:r>
            <a:r>
              <a:rPr lang="es-AR" sz="1700" dirty="0" err="1"/>
              <a:t>Suricata</a:t>
            </a:r>
            <a:r>
              <a:rPr lang="es-AR" sz="1700" dirty="0"/>
              <a:t>), normalizándolos y enriqueciéndolos antes de almacenarlos</a:t>
            </a:r>
            <a:r>
              <a:rPr lang="en-US" sz="1700" b="1" dirty="0"/>
              <a:t>.</a:t>
            </a:r>
          </a:p>
          <a:p>
            <a:pPr lvl="1"/>
            <a:r>
              <a:rPr lang="en-US" sz="1700" b="1" dirty="0"/>
              <a:t>Elasticsearch: </a:t>
            </a:r>
            <a:r>
              <a:rPr lang="es-AR" sz="1700" dirty="0"/>
              <a:t>motor de búsqueda y análisis. Es una base de datos altamente escalable que almacena todos los eventos de seguridad, lo que permite realizar búsquedas y correlaciones complejas rápidamente</a:t>
            </a:r>
            <a:r>
              <a:rPr lang="en-US" sz="1700" b="1" dirty="0"/>
              <a:t>.</a:t>
            </a:r>
          </a:p>
          <a:p>
            <a:pPr lvl="1"/>
            <a:r>
              <a:rPr lang="en-US" sz="1700" b="1" dirty="0"/>
              <a:t>Kibana: </a:t>
            </a:r>
            <a:r>
              <a:rPr lang="es-AR" sz="1700" dirty="0"/>
              <a:t>La capa de visualización. Proporciona paneles y gráficos que permiten a los analistas de seguridad visualizar datos de seguridad, analizar alertas y realizar búsquedas de amenazas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611528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 err="1"/>
              <a:t>Combinación</a:t>
            </a:r>
            <a:r>
              <a:rPr lang="en-US" sz="2600" b="1" dirty="0"/>
              <a:t> </a:t>
            </a:r>
            <a:r>
              <a:rPr lang="en-US" sz="2600" b="1" dirty="0" err="1"/>
              <a:t>típica</a:t>
            </a:r>
            <a:r>
              <a:rPr lang="en-US" sz="2600" b="1" dirty="0"/>
              <a:t> SOC/CSIRT open source…</a:t>
            </a:r>
            <a:endParaRPr lang="es-AR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763145" cy="3416400"/>
          </a:xfrm>
        </p:spPr>
        <p:txBody>
          <a:bodyPr/>
          <a:lstStyle/>
          <a:p>
            <a:r>
              <a:rPr lang="es-AR" sz="2000" b="1" dirty="0"/>
              <a:t>Respuesta a Incidentes y Automatización </a:t>
            </a:r>
            <a:r>
              <a:rPr lang="en-US" sz="2000" b="1" dirty="0"/>
              <a:t>(SOAR)</a:t>
            </a:r>
          </a:p>
          <a:p>
            <a:pPr lvl="1"/>
            <a:r>
              <a:rPr lang="en-US" sz="1600" b="1" dirty="0" err="1"/>
              <a:t>TheHive</a:t>
            </a:r>
            <a:r>
              <a:rPr lang="en-US" sz="1600" b="1" dirty="0"/>
              <a:t>: Security Orchestration, Automation, and Response (SOAR). </a:t>
            </a:r>
            <a:r>
              <a:rPr lang="es-AR" sz="1600" dirty="0"/>
              <a:t>Una vez que el SIEM genera una alerta, los analistas de </a:t>
            </a:r>
            <a:r>
              <a:rPr lang="es-AR" sz="1600" dirty="0" err="1"/>
              <a:t>TheHive</a:t>
            </a:r>
            <a:r>
              <a:rPr lang="es-AR" sz="1600" dirty="0"/>
              <a:t> la utilizan para</a:t>
            </a:r>
            <a:r>
              <a:rPr lang="en-US" sz="1600" dirty="0"/>
              <a:t>:</a:t>
            </a:r>
          </a:p>
          <a:p>
            <a:pPr lvl="3"/>
            <a:r>
              <a:rPr lang="en-US" sz="1600" b="1" dirty="0"/>
              <a:t>o	</a:t>
            </a:r>
            <a:r>
              <a:rPr lang="es-AR" sz="1600" b="1" dirty="0"/>
              <a:t>Crear y gestionar incidentes y casos</a:t>
            </a:r>
            <a:r>
              <a:rPr lang="en-US" sz="1600" b="1" dirty="0"/>
              <a:t>.</a:t>
            </a:r>
          </a:p>
          <a:p>
            <a:pPr lvl="3"/>
            <a:r>
              <a:rPr lang="en-US" sz="1600" b="1" dirty="0"/>
              <a:t>o	</a:t>
            </a:r>
            <a:r>
              <a:rPr lang="en-US" sz="1600" b="1" dirty="0" err="1"/>
              <a:t>Colaborar</a:t>
            </a:r>
            <a:r>
              <a:rPr lang="en-US" sz="1600" b="1" dirty="0"/>
              <a:t> </a:t>
            </a:r>
            <a:r>
              <a:rPr lang="en-US" sz="1600" b="1" dirty="0" err="1"/>
              <a:t>en</a:t>
            </a:r>
            <a:r>
              <a:rPr lang="en-US" sz="1600" b="1" dirty="0"/>
              <a:t> las </a:t>
            </a:r>
            <a:r>
              <a:rPr lang="en-US" sz="1600" b="1" dirty="0" err="1"/>
              <a:t>investigaciones</a:t>
            </a:r>
            <a:r>
              <a:rPr lang="en-US" sz="1600" b="1" dirty="0"/>
              <a:t>.</a:t>
            </a:r>
          </a:p>
          <a:p>
            <a:pPr lvl="3"/>
            <a:r>
              <a:rPr lang="en-US" sz="1600" b="1" dirty="0"/>
              <a:t>o	</a:t>
            </a:r>
            <a:r>
              <a:rPr lang="es-AR" sz="1600" b="1" dirty="0"/>
              <a:t>Seguimiento del estado y el progreso de un incidente.</a:t>
            </a:r>
            <a:endParaRPr lang="en-US" sz="1600" b="1" dirty="0"/>
          </a:p>
          <a:p>
            <a:pPr lvl="1"/>
            <a:r>
              <a:rPr lang="en-US" sz="1600" b="1" dirty="0"/>
              <a:t>Cortex: </a:t>
            </a:r>
            <a:r>
              <a:rPr lang="es-AR" sz="1600" dirty="0"/>
              <a:t>motor de análisis, funciona con </a:t>
            </a:r>
            <a:r>
              <a:rPr lang="es-AR" sz="1600" dirty="0" err="1"/>
              <a:t>TheHive</a:t>
            </a:r>
            <a:r>
              <a:rPr lang="es-AR" sz="1600" dirty="0"/>
              <a:t>. Cuando un analista identifica un posible indicador de compromiso (IOC), como una dirección IP, un hash de archivo o un nombre de dominio, </a:t>
            </a:r>
            <a:r>
              <a:rPr lang="es-AR" sz="1600" dirty="0" err="1"/>
              <a:t>Cortex</a:t>
            </a:r>
            <a:r>
              <a:rPr lang="es-AR" sz="1600" dirty="0"/>
              <a:t> puede enriquecer automáticamente los datos procesándolos a través de varios analizadores. </a:t>
            </a:r>
            <a:r>
              <a:rPr lang="es-AR" sz="1600" dirty="0" err="1"/>
              <a:t>Po.ej</a:t>
            </a:r>
            <a:r>
              <a:rPr lang="es-AR" sz="1600" dirty="0"/>
              <a:t>. puede comparar el hash de un archivo con </a:t>
            </a:r>
            <a:r>
              <a:rPr lang="es-AR" sz="1600" dirty="0" err="1"/>
              <a:t>VirusTotal</a:t>
            </a:r>
            <a:r>
              <a:rPr lang="es-AR" sz="1600" dirty="0"/>
              <a:t> o una dirección IP con fuentes de inteligencia de amenazas</a:t>
            </a:r>
            <a:r>
              <a:rPr lang="en-US" sz="1600" dirty="0"/>
              <a:t>. 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0880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 err="1"/>
              <a:t>Combinación</a:t>
            </a:r>
            <a:r>
              <a:rPr lang="en-US" sz="2600" b="1" dirty="0"/>
              <a:t> </a:t>
            </a:r>
            <a:r>
              <a:rPr lang="en-US" sz="2600" b="1" dirty="0" err="1"/>
              <a:t>típica</a:t>
            </a:r>
            <a:r>
              <a:rPr lang="en-US" sz="2600" b="1" dirty="0"/>
              <a:t> SOC/CSIRT open source…</a:t>
            </a:r>
            <a:endParaRPr lang="es-AR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017725"/>
            <a:ext cx="8763145" cy="3551150"/>
          </a:xfrm>
        </p:spPr>
        <p:txBody>
          <a:bodyPr/>
          <a:lstStyle/>
          <a:p>
            <a:r>
              <a:rPr lang="es-AR" sz="2000" b="1" dirty="0"/>
              <a:t>Inteligencia de Amenazas y Respuesta en </a:t>
            </a:r>
            <a:r>
              <a:rPr lang="es-AR" sz="2000" b="1" dirty="0" err="1"/>
              <a:t>Endpoints</a:t>
            </a:r>
            <a:endParaRPr lang="es-AR" sz="2000" b="1" dirty="0"/>
          </a:p>
          <a:p>
            <a:pPr lvl="3"/>
            <a:r>
              <a:rPr lang="en-US" sz="1200" b="1" dirty="0"/>
              <a:t>MISP (Malware Information Sharing Platform): </a:t>
            </a:r>
            <a:r>
              <a:rPr lang="es-AR" sz="1200" b="1" dirty="0"/>
              <a:t>Plataforma de Inteligencia de Amenazas (TIP). Recopila, comparte y correlaciona inteligencia de amenazas, mediante</a:t>
            </a:r>
            <a:endParaRPr lang="en-US" sz="1200" b="1" dirty="0"/>
          </a:p>
          <a:p>
            <a:pPr lvl="3"/>
            <a:r>
              <a:rPr lang="en-US" sz="1600" b="1" dirty="0"/>
              <a:t>o	</a:t>
            </a:r>
            <a:r>
              <a:rPr lang="es-AR" b="1" dirty="0"/>
              <a:t>La ingesta de datos de amenazas de diversas fuentes</a:t>
            </a:r>
            <a:r>
              <a:rPr lang="en-US" b="1" dirty="0"/>
              <a:t>.</a:t>
            </a:r>
          </a:p>
          <a:p>
            <a:pPr lvl="3"/>
            <a:r>
              <a:rPr lang="en-US" b="1" dirty="0"/>
              <a:t>o	 indicators of compromise (IOCs) </a:t>
            </a:r>
            <a:r>
              <a:rPr lang="en-US" b="1" dirty="0" err="1"/>
              <a:t>compartirlos</a:t>
            </a:r>
            <a:r>
              <a:rPr lang="en-US" b="1" dirty="0"/>
              <a:t> con la </a:t>
            </a:r>
            <a:r>
              <a:rPr lang="en-US" b="1" dirty="0" err="1"/>
              <a:t>comunidad</a:t>
            </a:r>
            <a:r>
              <a:rPr lang="en-US" b="1" dirty="0"/>
              <a:t>.</a:t>
            </a:r>
          </a:p>
          <a:p>
            <a:pPr lvl="3"/>
            <a:r>
              <a:rPr lang="en-US" b="1" dirty="0"/>
              <a:t>o	</a:t>
            </a:r>
            <a:r>
              <a:rPr lang="en-US" b="1" dirty="0" err="1"/>
              <a:t>Enriquecimiento</a:t>
            </a:r>
            <a:r>
              <a:rPr lang="en-US" b="1" dirty="0"/>
              <a:t> de </a:t>
            </a:r>
            <a:r>
              <a:rPr lang="en-US" b="1" dirty="0" err="1"/>
              <a:t>alertas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TheHive</a:t>
            </a:r>
            <a:r>
              <a:rPr lang="en-US" b="1" dirty="0"/>
              <a:t>/Cortex </a:t>
            </a:r>
            <a:r>
              <a:rPr lang="es-AR" b="1" dirty="0"/>
              <a:t>con indicadores maliciosos conocidos, ayuda a los analistas a identificar actividad maliciosa</a:t>
            </a:r>
            <a:r>
              <a:rPr lang="en-US" b="1" dirty="0"/>
              <a:t>.</a:t>
            </a:r>
          </a:p>
          <a:p>
            <a:pPr lvl="1"/>
            <a:r>
              <a:rPr lang="en-US" sz="1600" b="1" dirty="0"/>
              <a:t>Velociraptor: </a:t>
            </a:r>
            <a:r>
              <a:rPr lang="es-AR" sz="1600" dirty="0"/>
              <a:t>: Herramienta de Visibilidad y Respuesta en </a:t>
            </a:r>
            <a:r>
              <a:rPr lang="es-AR" sz="1600" dirty="0" err="1"/>
              <a:t>Endpoints</a:t>
            </a:r>
            <a:r>
              <a:rPr lang="es-AR" sz="1600" dirty="0"/>
              <a:t>.</a:t>
            </a:r>
            <a:endParaRPr lang="en-US" sz="1600" dirty="0"/>
          </a:p>
          <a:p>
            <a:pPr lvl="3"/>
            <a:r>
              <a:rPr lang="en-US" sz="1600" b="1" dirty="0"/>
              <a:t>o	</a:t>
            </a:r>
            <a:r>
              <a:rPr lang="es-AR" b="1" dirty="0"/>
              <a:t>Digital y Respuesta a Incidentes (DFIR): </a:t>
            </a:r>
            <a:r>
              <a:rPr lang="es-AR" dirty="0"/>
              <a:t>para realizar análisis forense en vivo en el </a:t>
            </a:r>
            <a:r>
              <a:rPr lang="es-AR" dirty="0" err="1"/>
              <a:t>endpoint</a:t>
            </a:r>
            <a:r>
              <a:rPr lang="es-AR" dirty="0"/>
              <a:t> afectado</a:t>
            </a:r>
            <a:r>
              <a:rPr lang="en-US" dirty="0"/>
              <a:t>.</a:t>
            </a:r>
          </a:p>
          <a:p>
            <a:pPr lvl="3"/>
            <a:r>
              <a:rPr lang="en-US" b="1" dirty="0"/>
              <a:t>o	Threat Hunting: </a:t>
            </a:r>
            <a:r>
              <a:rPr lang="es-AR" dirty="0"/>
              <a:t>Permite a los analistas escribir consultas personalizadas para buscar artefactos específicos en miles de </a:t>
            </a:r>
            <a:r>
              <a:rPr lang="es-AR" dirty="0" err="1"/>
              <a:t>endpoints</a:t>
            </a:r>
            <a:r>
              <a:rPr lang="es-AR" dirty="0"/>
              <a:t> simultáneamente, p.ej. un archivo malicioso, una clave de registro específica o un proceso en ejecución. Búsqueda proactiva de amenazas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972432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5CB9-C45C-493A-8F50-1FFD8F96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600" b="1" dirty="0"/>
              <a:t>Flujo de trabajo de seguridad integral:</a:t>
            </a:r>
            <a:endParaRPr lang="es-AR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B14903-0C0B-4AFE-9BFA-872902E93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763145" cy="3416400"/>
          </a:xfrm>
        </p:spPr>
        <p:txBody>
          <a:bodyPr/>
          <a:lstStyle/>
          <a:p>
            <a:r>
              <a:rPr lang="es-AR" sz="2000" b="1" dirty="0"/>
              <a:t>Detección: </a:t>
            </a:r>
            <a:r>
              <a:rPr lang="es-AR" sz="2000" b="1" dirty="0" err="1"/>
              <a:t>Wazuh</a:t>
            </a:r>
            <a:r>
              <a:rPr lang="es-AR" sz="2000" b="1" dirty="0"/>
              <a:t> y </a:t>
            </a:r>
            <a:r>
              <a:rPr lang="es-AR" sz="2000" b="1" dirty="0" err="1"/>
              <a:t>Suricata</a:t>
            </a:r>
            <a:r>
              <a:rPr lang="es-AR" sz="2000" b="1" dirty="0"/>
              <a:t> </a:t>
            </a:r>
            <a:r>
              <a:rPr lang="es-AR" sz="2000" dirty="0"/>
              <a:t>recopilan datos de </a:t>
            </a:r>
            <a:r>
              <a:rPr lang="es-AR" sz="2000" dirty="0" err="1"/>
              <a:t>endpoints</a:t>
            </a:r>
            <a:r>
              <a:rPr lang="es-AR" sz="2000" dirty="0"/>
              <a:t> y de red.</a:t>
            </a:r>
          </a:p>
          <a:p>
            <a:r>
              <a:rPr lang="es-AR" sz="2000" b="1" dirty="0"/>
              <a:t>Análisis: ELK </a:t>
            </a:r>
            <a:r>
              <a:rPr lang="es-AR" sz="2000" b="1" dirty="0" err="1"/>
              <a:t>Stack</a:t>
            </a:r>
            <a:r>
              <a:rPr lang="es-AR" sz="2000" b="1" dirty="0"/>
              <a:t> </a:t>
            </a:r>
            <a:r>
              <a:rPr lang="es-AR" sz="2000" dirty="0"/>
              <a:t>ingiere, almacena y analiza estos datos, generando alertas.</a:t>
            </a:r>
          </a:p>
          <a:p>
            <a:r>
              <a:rPr lang="es-AR" sz="2000" b="1" dirty="0"/>
              <a:t>Respuesta: </a:t>
            </a:r>
            <a:r>
              <a:rPr lang="es-AR" sz="2000" b="1" dirty="0" err="1"/>
              <a:t>TheHive</a:t>
            </a:r>
            <a:r>
              <a:rPr lang="es-AR" sz="2000" b="1" dirty="0"/>
              <a:t> y </a:t>
            </a:r>
            <a:r>
              <a:rPr lang="es-AR" sz="2000" b="1" dirty="0" err="1"/>
              <a:t>Cortex</a:t>
            </a:r>
            <a:r>
              <a:rPr lang="es-AR" sz="2000" b="1" dirty="0"/>
              <a:t> </a:t>
            </a:r>
            <a:r>
              <a:rPr lang="es-AR" sz="2000" dirty="0"/>
              <a:t>gestionan el proceso de respuesta a incidentes, automatizando el enriquecimiento de datos y proporcionando un entorno colaborativo.</a:t>
            </a:r>
          </a:p>
          <a:p>
            <a:r>
              <a:rPr lang="es-AR" sz="2000" b="1" dirty="0"/>
              <a:t>Inteligencia: MISP </a:t>
            </a:r>
            <a:r>
              <a:rPr lang="es-AR" sz="2000" dirty="0"/>
              <a:t>proporciona contexto al compartir y correlacionar la inteligencia de amenazas.</a:t>
            </a:r>
          </a:p>
          <a:p>
            <a:r>
              <a:rPr lang="es-AR" sz="2000" b="1" dirty="0"/>
              <a:t>Remediación/Búsqueda: </a:t>
            </a:r>
            <a:r>
              <a:rPr lang="es-AR" sz="2000" b="1" dirty="0" err="1"/>
              <a:t>Velociraptor</a:t>
            </a:r>
            <a:r>
              <a:rPr lang="es-AR" sz="2000" b="1" dirty="0"/>
              <a:t> </a:t>
            </a:r>
            <a:r>
              <a:rPr lang="es-AR" sz="2000" dirty="0"/>
              <a:t>permite un análisis forense exhaustivo y la búsqueda de </a:t>
            </a:r>
            <a:r>
              <a:rPr lang="es-AR" sz="2000" dirty="0" err="1"/>
              <a:t>endpoints</a:t>
            </a:r>
            <a:r>
              <a:rPr lang="es-AR" sz="2000" dirty="0"/>
              <a:t>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28861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Equipos operativos en Ciberseguridad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/>
              <a:t>Red </a:t>
            </a:r>
            <a:r>
              <a:rPr lang="es-AR" b="1" dirty="0" err="1"/>
              <a:t>Team</a:t>
            </a:r>
            <a:r>
              <a:rPr lang="es-AR" b="1" dirty="0"/>
              <a:t> </a:t>
            </a:r>
            <a:r>
              <a:rPr lang="es-AR" b="1" i="1" dirty="0"/>
              <a:t>(ataque controlado)</a:t>
            </a:r>
            <a:endParaRPr lang="es-AR" b="1" dirty="0"/>
          </a:p>
          <a:p>
            <a:r>
              <a:rPr lang="es-AR" dirty="0"/>
              <a:t>Simula ataques reales para probar defensas.</a:t>
            </a:r>
          </a:p>
          <a:p>
            <a:r>
              <a:rPr lang="es-AR" dirty="0" err="1"/>
              <a:t>Pentesting</a:t>
            </a:r>
            <a:r>
              <a:rPr lang="es-AR" dirty="0"/>
              <a:t>, explotación de vulnerabilidades.</a:t>
            </a:r>
          </a:p>
          <a:p>
            <a:r>
              <a:rPr lang="es-AR" dirty="0"/>
              <a:t>Genera insumos para fortalecer al Blue </a:t>
            </a:r>
            <a:r>
              <a:rPr lang="es-AR" dirty="0" err="1"/>
              <a:t>Team</a:t>
            </a:r>
            <a:r>
              <a:rPr lang="es-AR" dirty="0"/>
              <a:t>.</a:t>
            </a:r>
          </a:p>
          <a:p>
            <a:pPr marL="114300" indent="0">
              <a:buNone/>
            </a:pPr>
            <a:endParaRPr lang="es-AR" dirty="0"/>
          </a:p>
          <a:p>
            <a:r>
              <a:rPr lang="es-AR" b="1" dirty="0"/>
              <a:t>Blue </a:t>
            </a:r>
            <a:r>
              <a:rPr lang="es-AR" b="1" dirty="0" err="1"/>
              <a:t>Team</a:t>
            </a:r>
            <a:r>
              <a:rPr lang="es-AR" b="1" dirty="0"/>
              <a:t> </a:t>
            </a:r>
            <a:r>
              <a:rPr lang="es-AR" b="1" i="1" dirty="0"/>
              <a:t>(defensa activa)</a:t>
            </a:r>
            <a:endParaRPr lang="es-AR" b="1" dirty="0"/>
          </a:p>
          <a:p>
            <a:r>
              <a:rPr lang="es-AR" dirty="0"/>
              <a:t>Refuerza defensas y responde a incidentes.</a:t>
            </a:r>
          </a:p>
          <a:p>
            <a:r>
              <a:rPr lang="es-AR" dirty="0"/>
              <a:t>Correlación de eventos, </a:t>
            </a:r>
            <a:r>
              <a:rPr lang="es-AR" dirty="0" err="1"/>
              <a:t>hardening</a:t>
            </a:r>
            <a:r>
              <a:rPr lang="es-AR" dirty="0"/>
              <a:t>, respuesta inmediata.</a:t>
            </a:r>
          </a:p>
          <a:p>
            <a:r>
              <a:rPr lang="es-AR" dirty="0"/>
              <a:t>Trabaja de la mano con SOC y CSIRT.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0485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Equipos operativos en Ciberseguridad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sz="2200" dirty="0" err="1"/>
              <a:t>Purple</a:t>
            </a:r>
            <a:r>
              <a:rPr lang="es-AR" sz="2200" dirty="0"/>
              <a:t> </a:t>
            </a:r>
            <a:r>
              <a:rPr lang="es-AR" sz="2200" dirty="0" err="1"/>
              <a:t>Team</a:t>
            </a:r>
            <a:r>
              <a:rPr lang="es-AR" sz="2200" dirty="0"/>
              <a:t> (colaboración y validación)</a:t>
            </a:r>
          </a:p>
          <a:p>
            <a:pPr lvl="1"/>
            <a:r>
              <a:rPr lang="es-AR" sz="1800" dirty="0"/>
              <a:t>Facilita la colaboración entre Red y Blue para detecciones y respuestas.</a:t>
            </a:r>
          </a:p>
          <a:p>
            <a:pPr lvl="1"/>
            <a:r>
              <a:rPr lang="es-AR" sz="1800" dirty="0"/>
              <a:t>Emula </a:t>
            </a:r>
            <a:r>
              <a:rPr lang="es-AR" sz="1800" dirty="0" err="1"/>
              <a:t>TTPs</a:t>
            </a:r>
            <a:r>
              <a:rPr lang="es-AR" sz="1800" dirty="0"/>
              <a:t> (tácticas, técnicas y procedimientos) de adversarios en entornos controlados y valida la telemetría.</a:t>
            </a:r>
          </a:p>
          <a:p>
            <a:pPr lvl="1"/>
            <a:r>
              <a:rPr lang="es-AR" sz="1800" dirty="0"/>
              <a:t>Ajusta y crea reglas, </a:t>
            </a:r>
            <a:r>
              <a:rPr lang="es-AR" sz="1800" dirty="0" err="1"/>
              <a:t>playbooks</a:t>
            </a:r>
            <a:r>
              <a:rPr lang="es-AR" sz="1800" dirty="0"/>
              <a:t> y firmas (</a:t>
            </a:r>
            <a:r>
              <a:rPr lang="es-AR" sz="1800" dirty="0" err="1"/>
              <a:t>tuning</a:t>
            </a:r>
            <a:r>
              <a:rPr lang="es-AR" sz="1800" dirty="0"/>
              <a:t>) para que las detecciones sean efectivas y con menos falsos positivos.</a:t>
            </a:r>
          </a:p>
          <a:p>
            <a:pPr lvl="1"/>
            <a:r>
              <a:rPr lang="es-AR" sz="1800" dirty="0"/>
              <a:t>Genera ejercicios repetibles y métricas (MTTD/MTTR) que transforman hallazgos en mejoras operativas para el Blue </a:t>
            </a:r>
            <a:r>
              <a:rPr lang="es-AR" sz="2000" dirty="0" err="1"/>
              <a:t>Team</a:t>
            </a:r>
            <a:r>
              <a:rPr lang="es-AR" sz="2000" dirty="0"/>
              <a:t>.</a:t>
            </a:r>
            <a:endParaRPr lang="es-AR" sz="1800" dirty="0"/>
          </a:p>
          <a:p>
            <a:pPr lvl="1"/>
            <a:r>
              <a:rPr lang="es-AR" sz="1800" dirty="0"/>
              <a:t>Trabaja mano a mano con Red (para emular amenazas) y con Blue/SOC/CSIRT (para implementar y validar contramedidas).</a:t>
            </a:r>
          </a:p>
        </p:txBody>
      </p:sp>
    </p:spTree>
    <p:extLst>
      <p:ext uri="{BB962C8B-B14F-4D97-AF65-F5344CB8AC3E}">
        <p14:creationId xmlns:p14="http://schemas.microsoft.com/office/powerpoint/2010/main" val="4033214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Técnicas y Herramientas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Objetivo: Emular adversarios reales para probar detecciones y controles.</a:t>
            </a:r>
          </a:p>
          <a:p>
            <a:r>
              <a:rPr lang="es-AR" dirty="0"/>
              <a:t>Técnicas clave: Reconocimiento, Explotación, Evasión, Persistencia, Exfiltración.</a:t>
            </a:r>
          </a:p>
          <a:p>
            <a:r>
              <a:rPr lang="es-AR" dirty="0"/>
              <a:t>Herramientas open-</a:t>
            </a:r>
            <a:r>
              <a:rPr lang="es-AR" dirty="0" err="1"/>
              <a:t>source</a:t>
            </a:r>
            <a:r>
              <a:rPr lang="es-AR" dirty="0"/>
              <a:t>: </a:t>
            </a:r>
          </a:p>
          <a:p>
            <a:pPr lvl="1"/>
            <a:r>
              <a:rPr lang="es-AR" sz="1800" dirty="0" err="1"/>
              <a:t>Metasploit</a:t>
            </a:r>
            <a:r>
              <a:rPr lang="es-AR" sz="1800" dirty="0"/>
              <a:t> (</a:t>
            </a:r>
            <a:r>
              <a:rPr lang="es-AR" sz="1800" dirty="0" err="1"/>
              <a:t>framework</a:t>
            </a:r>
            <a:r>
              <a:rPr lang="es-AR" sz="1800" dirty="0"/>
              <a:t> de explotación) — emulación autorizada en laboratorios.</a:t>
            </a:r>
          </a:p>
          <a:p>
            <a:pPr lvl="1"/>
            <a:r>
              <a:rPr lang="es-AR" sz="1800" dirty="0" err="1"/>
              <a:t>BloodHound</a:t>
            </a:r>
            <a:r>
              <a:rPr lang="es-AR" sz="1800" dirty="0"/>
              <a:t> — mapeo de relaciones en Active </a:t>
            </a:r>
            <a:r>
              <a:rPr lang="es-AR" sz="1800" dirty="0" err="1"/>
              <a:t>Directory</a:t>
            </a:r>
            <a:r>
              <a:rPr lang="es-AR" sz="1800" dirty="0"/>
              <a:t> para rutas de escalado.</a:t>
            </a:r>
          </a:p>
          <a:p>
            <a:pPr lvl="1"/>
            <a:r>
              <a:rPr lang="es-AR" sz="1800" dirty="0" err="1"/>
              <a:t>Impacket</a:t>
            </a:r>
            <a:r>
              <a:rPr lang="es-AR" sz="1800" dirty="0"/>
              <a:t> — utilidades Python para interacción con protocolos Windows (SMB, RPC).</a:t>
            </a:r>
          </a:p>
          <a:p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3710813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Técnicas y Herramientas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+ Herramientas open-</a:t>
            </a:r>
            <a:r>
              <a:rPr lang="es-AR" dirty="0" err="1"/>
              <a:t>source</a:t>
            </a:r>
            <a:r>
              <a:rPr lang="es-AR" dirty="0"/>
              <a:t>: </a:t>
            </a:r>
          </a:p>
          <a:p>
            <a:pPr lvl="1"/>
            <a:r>
              <a:rPr lang="es-AR" sz="1800" dirty="0"/>
              <a:t>Responder — análisis/abuso de LLMNR/NBT-NS/MDNS para captura de credenciales en entornos controlados.</a:t>
            </a:r>
          </a:p>
          <a:p>
            <a:pPr lvl="1"/>
            <a:r>
              <a:rPr lang="es-AR" sz="1800" dirty="0" err="1"/>
              <a:t>CrackMapExec</a:t>
            </a:r>
            <a:r>
              <a:rPr lang="es-AR" sz="1800" dirty="0"/>
              <a:t> — gestión </a:t>
            </a:r>
            <a:r>
              <a:rPr lang="es-AR" sz="1800" dirty="0" err="1"/>
              <a:t>post-explotación</a:t>
            </a:r>
            <a:r>
              <a:rPr lang="es-AR" sz="1800" dirty="0"/>
              <a:t> en entornos Windows a gran escala.</a:t>
            </a:r>
          </a:p>
          <a:p>
            <a:pPr lvl="1"/>
            <a:r>
              <a:rPr lang="es-AR" sz="1800" dirty="0" err="1"/>
              <a:t>Sliver</a:t>
            </a:r>
            <a:r>
              <a:rPr lang="es-AR" sz="1800" dirty="0"/>
              <a:t> / </a:t>
            </a:r>
            <a:r>
              <a:rPr lang="es-AR" sz="1800" dirty="0" err="1"/>
              <a:t>Pupy</a:t>
            </a:r>
            <a:r>
              <a:rPr lang="es-AR" sz="1800" dirty="0"/>
              <a:t> — </a:t>
            </a:r>
            <a:r>
              <a:rPr lang="es-AR" sz="1800" dirty="0" err="1"/>
              <a:t>frameworks</a:t>
            </a:r>
            <a:r>
              <a:rPr lang="es-AR" sz="1800" dirty="0"/>
              <a:t> C2 open-</a:t>
            </a:r>
            <a:r>
              <a:rPr lang="es-AR" sz="1800" dirty="0" err="1"/>
              <a:t>source</a:t>
            </a:r>
            <a:r>
              <a:rPr lang="es-AR" sz="1800" dirty="0"/>
              <a:t> para emulación (uso controlado).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97560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Técnicas y Herramientas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Objetivo: Detectar, investigar, contener y recuperar frente a incidentes.</a:t>
            </a:r>
          </a:p>
          <a:p>
            <a:r>
              <a:rPr lang="es-AR" dirty="0"/>
              <a:t>Técnicas defensivas: instrumentación, correlación, </a:t>
            </a:r>
            <a:r>
              <a:rPr lang="es-AR" dirty="0" err="1"/>
              <a:t>hunting</a:t>
            </a:r>
            <a:r>
              <a:rPr lang="es-AR" dirty="0"/>
              <a:t>, forense, </a:t>
            </a:r>
            <a:r>
              <a:rPr lang="es-AR" dirty="0" err="1"/>
              <a:t>hardening</a:t>
            </a:r>
            <a:r>
              <a:rPr lang="es-AR" dirty="0"/>
              <a:t>.</a:t>
            </a:r>
          </a:p>
          <a:p>
            <a:r>
              <a:rPr lang="es-AR" dirty="0"/>
              <a:t>Herramientas:</a:t>
            </a:r>
          </a:p>
          <a:p>
            <a:pPr lvl="1"/>
            <a:r>
              <a:rPr lang="es-AR" sz="1800" dirty="0" err="1"/>
              <a:t>Zeek</a:t>
            </a:r>
            <a:r>
              <a:rPr lang="es-AR" sz="1800" dirty="0"/>
              <a:t> (</a:t>
            </a:r>
            <a:r>
              <a:rPr lang="es-AR" sz="1800" dirty="0" err="1"/>
              <a:t>Bro</a:t>
            </a:r>
            <a:r>
              <a:rPr lang="es-AR" sz="1800" dirty="0"/>
              <a:t>) (visibilidad de red): análisis de tráfico de red con logs ricos de sesión.</a:t>
            </a:r>
          </a:p>
          <a:p>
            <a:pPr lvl="1"/>
            <a:r>
              <a:rPr lang="es-AR" sz="1800" dirty="0" err="1"/>
              <a:t>Sysmon</a:t>
            </a:r>
            <a:r>
              <a:rPr lang="es-AR" sz="1800" dirty="0"/>
              <a:t> (</a:t>
            </a:r>
            <a:r>
              <a:rPr lang="es-AR" sz="1800" dirty="0" err="1"/>
              <a:t>endpoint</a:t>
            </a:r>
            <a:r>
              <a:rPr lang="es-AR" sz="1800" dirty="0"/>
              <a:t>/DFIR): enriquecimiento de logs en Windows para detección avanzada.</a:t>
            </a:r>
          </a:p>
          <a:p>
            <a:pPr lvl="1"/>
            <a:r>
              <a:rPr lang="es-AR" sz="1800" dirty="0"/>
              <a:t> </a:t>
            </a:r>
            <a:r>
              <a:rPr lang="es-AR" sz="1800" dirty="0" err="1"/>
              <a:t>Timesketch</a:t>
            </a:r>
            <a:r>
              <a:rPr lang="es-AR" sz="1800" dirty="0"/>
              <a:t> (</a:t>
            </a:r>
            <a:r>
              <a:rPr lang="es-AR" sz="1800" dirty="0" err="1"/>
              <a:t>hunting</a:t>
            </a:r>
            <a:r>
              <a:rPr lang="es-AR" sz="1800" dirty="0"/>
              <a:t>):análisis y visualización de timelines forenses.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72952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Técnicas y Herramientas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+ Herramientas:</a:t>
            </a:r>
          </a:p>
          <a:p>
            <a:pPr lvl="1"/>
            <a:r>
              <a:rPr lang="es-AR" sz="1800" dirty="0"/>
              <a:t>YARA (detección de artefactos): reglas para identificar archivos/muestras sospechosas.</a:t>
            </a:r>
          </a:p>
          <a:p>
            <a:pPr lvl="1"/>
            <a:r>
              <a:rPr lang="es-AR" sz="1800" dirty="0"/>
              <a:t>Falco (comportamiento en contenedores): detección en </a:t>
            </a:r>
            <a:r>
              <a:rPr lang="es-AR" sz="1800" dirty="0" err="1"/>
              <a:t>runtime</a:t>
            </a:r>
            <a:r>
              <a:rPr lang="es-AR" sz="1800" dirty="0"/>
              <a:t> para hosts y contenedores.</a:t>
            </a:r>
          </a:p>
          <a:p>
            <a:pPr lvl="1"/>
            <a:r>
              <a:rPr lang="es-AR" sz="1800" dirty="0" err="1"/>
              <a:t>Packetbeat</a:t>
            </a:r>
            <a:r>
              <a:rPr lang="es-AR" sz="1800" dirty="0"/>
              <a:t> (telemetría ligera): captura de transacciones para análisis en ELK.</a:t>
            </a:r>
          </a:p>
          <a:p>
            <a:pPr marL="11430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95351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Purple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Técnicas y Herramientas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Objetivo: Facilitar la colaboración </a:t>
            </a:r>
            <a:r>
              <a:rPr lang="es-AR" dirty="0" err="1"/>
              <a:t>Red↔Blue</a:t>
            </a:r>
            <a:r>
              <a:rPr lang="es-AR" dirty="0"/>
              <a:t> para mejorar detecciones y </a:t>
            </a:r>
            <a:r>
              <a:rPr lang="es-AR" dirty="0" err="1"/>
              <a:t>playbooks</a:t>
            </a:r>
            <a:r>
              <a:rPr lang="es-AR" dirty="0"/>
              <a:t>.</a:t>
            </a:r>
          </a:p>
          <a:p>
            <a:r>
              <a:rPr lang="es-AR" dirty="0"/>
              <a:t>Actividades típicas: emulación de </a:t>
            </a:r>
            <a:r>
              <a:rPr lang="es-AR" dirty="0" err="1"/>
              <a:t>TTPs</a:t>
            </a:r>
            <a:r>
              <a:rPr lang="es-AR" dirty="0"/>
              <a:t>, validación de telemetría, </a:t>
            </a:r>
            <a:r>
              <a:rPr lang="es-AR" dirty="0" err="1"/>
              <a:t>tuning</a:t>
            </a:r>
            <a:r>
              <a:rPr lang="es-AR" dirty="0"/>
              <a:t> de reglas, </a:t>
            </a:r>
            <a:r>
              <a:rPr lang="es-AR" dirty="0" err="1"/>
              <a:t>threat</a:t>
            </a:r>
            <a:r>
              <a:rPr lang="es-AR" dirty="0"/>
              <a:t> </a:t>
            </a:r>
            <a:r>
              <a:rPr lang="es-AR" dirty="0" err="1"/>
              <a:t>hunting</a:t>
            </a:r>
            <a:r>
              <a:rPr lang="es-AR" dirty="0"/>
              <a:t> compartido. </a:t>
            </a:r>
          </a:p>
          <a:p>
            <a:r>
              <a:rPr lang="es-AR" dirty="0"/>
              <a:t>Herramientas: </a:t>
            </a:r>
          </a:p>
          <a:p>
            <a:pPr lvl="1"/>
            <a:r>
              <a:rPr lang="es-AR" sz="1800" dirty="0" err="1"/>
              <a:t>Atomic</a:t>
            </a:r>
            <a:r>
              <a:rPr lang="es-AR" sz="1800" dirty="0"/>
              <a:t> Red </a:t>
            </a:r>
            <a:r>
              <a:rPr lang="es-AR" sz="1800" dirty="0" err="1"/>
              <a:t>Team</a:t>
            </a:r>
            <a:r>
              <a:rPr lang="es-AR" sz="1800" dirty="0"/>
              <a:t> (emulación &amp; pruebas): pequeñas pruebas mapeadas a MITRE ATT&amp;CK para verificar detecciones. </a:t>
            </a:r>
          </a:p>
          <a:p>
            <a:pPr lvl="1"/>
            <a:r>
              <a:rPr lang="es-AR" sz="1800" dirty="0"/>
              <a:t>Caldera (MITRE) (</a:t>
            </a:r>
            <a:r>
              <a:rPr lang="es-AR" sz="1800" dirty="0" err="1"/>
              <a:t>frameworks</a:t>
            </a:r>
            <a:r>
              <a:rPr lang="es-AR" sz="1800" dirty="0"/>
              <a:t> de emulación): automatización de campañas ATT&amp;CK y medición de detecciones.</a:t>
            </a:r>
          </a:p>
          <a:p>
            <a:pPr marL="11430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73194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TTPs (Tactics, Techniques, and Procedures)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Tácticas: el objetivo estratégico o la fase del ataque (por ejemplo </a:t>
            </a:r>
            <a:r>
              <a:rPr lang="es-AR" dirty="0" err="1"/>
              <a:t>Initial</a:t>
            </a:r>
            <a:r>
              <a:rPr lang="es-AR" dirty="0"/>
              <a:t> Access, </a:t>
            </a:r>
            <a:r>
              <a:rPr lang="es-AR" dirty="0" err="1"/>
              <a:t>Privilege</a:t>
            </a:r>
            <a:r>
              <a:rPr lang="es-AR" dirty="0"/>
              <a:t> </a:t>
            </a:r>
            <a:r>
              <a:rPr lang="es-AR" dirty="0" err="1"/>
              <a:t>Escalation</a:t>
            </a:r>
            <a:r>
              <a:rPr lang="es-AR" dirty="0"/>
              <a:t>, </a:t>
            </a:r>
            <a:r>
              <a:rPr lang="es-AR" dirty="0" err="1"/>
              <a:t>Exfiltration</a:t>
            </a:r>
            <a:r>
              <a:rPr lang="es-AR" dirty="0"/>
              <a:t>).</a:t>
            </a:r>
          </a:p>
          <a:p>
            <a:r>
              <a:rPr lang="es-AR" dirty="0"/>
              <a:t>Técnicas: las formas concretas de alcanzar esa táctica (por ejemplo: </a:t>
            </a:r>
            <a:r>
              <a:rPr lang="es-AR" dirty="0" err="1"/>
              <a:t>Spearphishing</a:t>
            </a:r>
            <a:r>
              <a:rPr lang="es-AR" dirty="0"/>
              <a:t>, Pass-</a:t>
            </a:r>
            <a:r>
              <a:rPr lang="es-AR" dirty="0" err="1"/>
              <a:t>the</a:t>
            </a:r>
            <a:r>
              <a:rPr lang="es-AR" dirty="0"/>
              <a:t>-Hash, Data </a:t>
            </a:r>
            <a:r>
              <a:rPr lang="es-AR" dirty="0" err="1"/>
              <a:t>Staged</a:t>
            </a:r>
            <a:r>
              <a:rPr lang="es-AR" dirty="0"/>
              <a:t>).</a:t>
            </a:r>
          </a:p>
          <a:p>
            <a:r>
              <a:rPr lang="es-AR" dirty="0"/>
              <a:t>Procedimientos: la forma específica y detallada en que un actor implementa una técnica (herramientas usadas, comandos, secuencia de pasos) — aquí es donde aparece la variación entre grupos o campañas.</a:t>
            </a:r>
          </a:p>
        </p:txBody>
      </p:sp>
    </p:spTree>
    <p:extLst>
      <p:ext uri="{BB962C8B-B14F-4D97-AF65-F5344CB8AC3E}">
        <p14:creationId xmlns:p14="http://schemas.microsoft.com/office/powerpoint/2010/main" val="2076693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Mapeo defensivo a MITRE ATT&amp;CK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01235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dirty="0"/>
              <a:t>Ejemplos</a:t>
            </a:r>
          </a:p>
          <a:p>
            <a:r>
              <a:rPr lang="es-AR" dirty="0"/>
              <a:t>T1059 (</a:t>
            </a:r>
            <a:r>
              <a:rPr lang="es-AR" dirty="0" err="1"/>
              <a:t>Command</a:t>
            </a:r>
            <a:r>
              <a:rPr lang="es-AR" dirty="0"/>
              <a:t> and Scripting </a:t>
            </a:r>
            <a:r>
              <a:rPr lang="es-AR" dirty="0" err="1"/>
              <a:t>Interpreter</a:t>
            </a:r>
            <a:r>
              <a:rPr lang="es-AR" dirty="0"/>
              <a:t>) → detectar patrones de scripts inusuales con </a:t>
            </a:r>
            <a:r>
              <a:rPr lang="es-AR" dirty="0" err="1"/>
              <a:t>Osquery</a:t>
            </a:r>
            <a:r>
              <a:rPr lang="es-AR" dirty="0"/>
              <a:t>/</a:t>
            </a:r>
            <a:r>
              <a:rPr lang="es-AR" dirty="0" err="1"/>
              <a:t>Velociraptor</a:t>
            </a:r>
            <a:r>
              <a:rPr lang="es-AR" dirty="0"/>
              <a:t> y alertar en SIEM.</a:t>
            </a:r>
          </a:p>
          <a:p>
            <a:r>
              <a:rPr lang="es-AR" dirty="0"/>
              <a:t>T1086 (PowerShell) → instrumentar </a:t>
            </a:r>
            <a:r>
              <a:rPr lang="es-AR" dirty="0" err="1"/>
              <a:t>Sysmon</a:t>
            </a:r>
            <a:r>
              <a:rPr lang="es-AR" dirty="0"/>
              <a:t> + logs PowerShell, YARA para scripts maliciosos.</a:t>
            </a:r>
          </a:p>
          <a:p>
            <a:r>
              <a:rPr lang="es-AR" dirty="0"/>
              <a:t>T1046 (Network </a:t>
            </a:r>
            <a:r>
              <a:rPr lang="es-AR" dirty="0" err="1"/>
              <a:t>Service</a:t>
            </a:r>
            <a:r>
              <a:rPr lang="es-AR" dirty="0"/>
              <a:t> Discovery) → </a:t>
            </a:r>
            <a:r>
              <a:rPr lang="es-AR" dirty="0" err="1"/>
              <a:t>Zeek</a:t>
            </a:r>
            <a:r>
              <a:rPr lang="es-AR" dirty="0"/>
              <a:t>/</a:t>
            </a:r>
            <a:r>
              <a:rPr lang="es-AR" dirty="0" err="1"/>
              <a:t>Suricata</a:t>
            </a:r>
            <a:r>
              <a:rPr lang="es-AR" dirty="0"/>
              <a:t> para detectar escaneos y actividad de </a:t>
            </a:r>
            <a:r>
              <a:rPr lang="es-AR" dirty="0" err="1"/>
              <a:t>discovery.T</a:t>
            </a:r>
            <a:endParaRPr lang="es-AR" dirty="0"/>
          </a:p>
          <a:p>
            <a:r>
              <a:rPr lang="es-AR" dirty="0"/>
              <a:t>1020 (</a:t>
            </a:r>
            <a:r>
              <a:rPr lang="es-AR" dirty="0" err="1"/>
              <a:t>Automated</a:t>
            </a:r>
            <a:r>
              <a:rPr lang="es-AR" dirty="0"/>
              <a:t> </a:t>
            </a:r>
            <a:r>
              <a:rPr lang="es-AR" dirty="0" err="1"/>
              <a:t>Exfiltration</a:t>
            </a:r>
            <a:r>
              <a:rPr lang="es-AR" dirty="0"/>
              <a:t>) → correlación en ELK de volúmenes de transferencia inusuales + alertas por Umbrales.</a:t>
            </a:r>
          </a:p>
        </p:txBody>
      </p:sp>
    </p:spTree>
    <p:extLst>
      <p:ext uri="{BB962C8B-B14F-4D97-AF65-F5344CB8AC3E}">
        <p14:creationId xmlns:p14="http://schemas.microsoft.com/office/powerpoint/2010/main" val="360672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Checklist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operativo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01235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+mj-lt"/>
              <a:buAutoNum type="arabicPeriod"/>
            </a:pPr>
            <a:r>
              <a:rPr lang="es-AR" sz="2000" dirty="0" err="1"/>
              <a:t>Triage</a:t>
            </a:r>
            <a:r>
              <a:rPr lang="es-AR" sz="2000" dirty="0"/>
              <a:t> inicial: fuente, prioridad, alcance (hosts afectados).</a:t>
            </a:r>
          </a:p>
          <a:p>
            <a:pPr>
              <a:buFont typeface="+mj-lt"/>
              <a:buAutoNum type="arabicPeriod"/>
            </a:pPr>
            <a:r>
              <a:rPr lang="es-AR" sz="2000" dirty="0"/>
              <a:t>Recolección mínima segura: preservar logs, tomar </a:t>
            </a:r>
            <a:r>
              <a:rPr lang="es-AR" sz="2000" dirty="0" err="1"/>
              <a:t>snapshot</a:t>
            </a:r>
            <a:r>
              <a:rPr lang="es-AR" sz="2000" dirty="0"/>
              <a:t> de memoria.</a:t>
            </a:r>
          </a:p>
          <a:p>
            <a:pPr>
              <a:buFont typeface="+mj-lt"/>
              <a:buAutoNum type="arabicPeriod"/>
            </a:pPr>
            <a:r>
              <a:rPr lang="es-AR" sz="2000" dirty="0"/>
              <a:t>Contención: aislar host(s) mediante segmentación o bloqueo de </a:t>
            </a:r>
            <a:r>
              <a:rPr lang="es-AR" sz="2000" dirty="0" err="1"/>
              <a:t>IPs</a:t>
            </a:r>
            <a:r>
              <a:rPr lang="es-AR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s-AR" sz="2000" dirty="0"/>
              <a:t>Análisis forense: timeline, hash de artefactos, reversión si necesario.</a:t>
            </a:r>
          </a:p>
          <a:p>
            <a:pPr>
              <a:buFont typeface="+mj-lt"/>
              <a:buAutoNum type="arabicPeriod"/>
            </a:pPr>
            <a:r>
              <a:rPr lang="es-AR" sz="2000" dirty="0"/>
              <a:t>Remediación: parcheo, credenciales rotadas, limpieza de persistencia.</a:t>
            </a:r>
          </a:p>
          <a:p>
            <a:pPr>
              <a:buFont typeface="+mj-lt"/>
              <a:buAutoNum type="arabicPeriod"/>
            </a:pPr>
            <a:r>
              <a:rPr lang="es-AR" sz="2000" dirty="0"/>
              <a:t>Recuperación: restaurar servicios, validar integridad.</a:t>
            </a:r>
          </a:p>
          <a:p>
            <a:pPr>
              <a:buFont typeface="+mj-lt"/>
              <a:buAutoNum type="arabicPeriod"/>
            </a:pPr>
            <a:r>
              <a:rPr lang="es-AR" sz="2000" dirty="0"/>
              <a:t>Cierre y lecciones: informe, actualizar reglas, </a:t>
            </a:r>
            <a:r>
              <a:rPr lang="es-AR" sz="2000" dirty="0" err="1"/>
              <a:t>playbooks</a:t>
            </a:r>
            <a:r>
              <a:rPr lang="es-AR" sz="2000" dirty="0"/>
              <a:t>, y MISP.</a:t>
            </a:r>
          </a:p>
        </p:txBody>
      </p:sp>
    </p:spTree>
    <p:extLst>
      <p:ext uri="{BB962C8B-B14F-4D97-AF65-F5344CB8AC3E}">
        <p14:creationId xmlns:p14="http://schemas.microsoft.com/office/powerpoint/2010/main" val="1471288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Purple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Técnicas y Herramientas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+ Herramientas:</a:t>
            </a:r>
          </a:p>
          <a:p>
            <a:pPr lvl="1"/>
            <a:r>
              <a:rPr lang="es-AR" sz="1800" dirty="0" err="1"/>
              <a:t>PurpleSharp</a:t>
            </a:r>
            <a:r>
              <a:rPr lang="es-AR" sz="1800" dirty="0"/>
              <a:t> (validación de reglas): emulador para validar detecciones (entorno controlado).</a:t>
            </a:r>
          </a:p>
          <a:p>
            <a:pPr lvl="1"/>
            <a:r>
              <a:rPr lang="es-AR" sz="1800" dirty="0"/>
              <a:t>Sigma (reglas portables): formato estándar para reglas (convertible a distintos </a:t>
            </a:r>
            <a:r>
              <a:rPr lang="es-AR" sz="1800" dirty="0" err="1"/>
              <a:t>SIEMs</a:t>
            </a:r>
            <a:r>
              <a:rPr lang="es-AR" sz="1800" dirty="0"/>
              <a:t>).</a:t>
            </a:r>
          </a:p>
          <a:p>
            <a:pPr lvl="1"/>
            <a:endParaRPr lang="es-AR" sz="1800" dirty="0"/>
          </a:p>
          <a:p>
            <a:r>
              <a:rPr lang="es-AR" dirty="0"/>
              <a:t>Integración: usar MISP / </a:t>
            </a:r>
            <a:r>
              <a:rPr lang="es-AR" dirty="0" err="1"/>
              <a:t>TheHive</a:t>
            </a:r>
            <a:r>
              <a:rPr lang="es-AR" dirty="0"/>
              <a:t> / </a:t>
            </a:r>
            <a:r>
              <a:rPr lang="es-AR" dirty="0" err="1"/>
              <a:t>Cortex</a:t>
            </a:r>
            <a:r>
              <a:rPr lang="es-AR" dirty="0"/>
              <a:t> para orquestar ejercicios y convertir hallazgos en </a:t>
            </a:r>
            <a:r>
              <a:rPr lang="es-AR" dirty="0" err="1"/>
              <a:t>playbooks</a:t>
            </a:r>
            <a:r>
              <a:rPr lang="es-AR" dirty="0"/>
              <a:t>.</a:t>
            </a:r>
          </a:p>
          <a:p>
            <a:pPr marL="11430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98589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Buenas practicas para los tres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Reglas: mapear técnicas a MITRE ATT&amp;CK antes de diseñar emulaciones.</a:t>
            </a:r>
          </a:p>
          <a:p>
            <a:r>
              <a:rPr lang="es-AR" dirty="0"/>
              <a:t>Instrumentar: </a:t>
            </a:r>
            <a:r>
              <a:rPr lang="es-AR" dirty="0" err="1"/>
              <a:t>asegurá</a:t>
            </a:r>
            <a:r>
              <a:rPr lang="es-AR" dirty="0"/>
              <a:t> cobertura de logs (</a:t>
            </a:r>
            <a:r>
              <a:rPr lang="es-AR" dirty="0" err="1"/>
              <a:t>endpoints</a:t>
            </a:r>
            <a:r>
              <a:rPr lang="es-AR" dirty="0"/>
              <a:t>, red, aplicaciones) antes de pruebas.</a:t>
            </a:r>
          </a:p>
          <a:p>
            <a:r>
              <a:rPr lang="es-AR" dirty="0"/>
              <a:t>Autorización: todo ejercicio ofensivo debe tener ROE y autorización por escrito.</a:t>
            </a:r>
          </a:p>
          <a:p>
            <a:r>
              <a:rPr lang="es-AR" dirty="0"/>
              <a:t>Ciclo: Emular → Detectar → Ajustar reglas (Sigma) → Repetir.</a:t>
            </a:r>
          </a:p>
          <a:p>
            <a:r>
              <a:rPr lang="es-AR" dirty="0"/>
              <a:t>Reporte: convertir hallazgos en acciones concretas: reglas, </a:t>
            </a:r>
            <a:r>
              <a:rPr lang="es-AR" dirty="0" err="1"/>
              <a:t>playbooks</a:t>
            </a:r>
            <a:r>
              <a:rPr lang="es-AR" dirty="0"/>
              <a:t>, parches, rotación de credenciales.</a:t>
            </a:r>
          </a:p>
          <a:p>
            <a:pPr marL="11430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12137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OSINT (Open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dirty="0"/>
              <a:t>Práctica de recopilar, analizar y correlacionar información proveniente de fuentes abiertas y accesibles públicamente —como sitios web, redes sociales, foros, bases de datos públicas, medios de comunicación o repositorios técnicos—</a:t>
            </a:r>
          </a:p>
          <a:p>
            <a:r>
              <a:rPr lang="es-AR" dirty="0"/>
              <a:t>Permite identificar vulnerabilidades, anticipar amenazas y comprender el entorno digital de una organización sin recurrir a técnicas intrusivas, convirtiéndose en un componente clave tanto para la defensa (Blue </a:t>
            </a:r>
            <a:r>
              <a:rPr lang="es-AR" dirty="0" err="1"/>
              <a:t>Team</a:t>
            </a:r>
            <a:r>
              <a:rPr lang="es-AR" dirty="0"/>
              <a:t>), como para la simulación controlada de ataques (Red </a:t>
            </a:r>
            <a:r>
              <a:rPr lang="es-AR" dirty="0" err="1"/>
              <a:t>Team</a:t>
            </a:r>
            <a:r>
              <a:rPr lang="es-AR" dirty="0"/>
              <a:t>) y la validación de detecciones (</a:t>
            </a:r>
            <a:r>
              <a:rPr lang="es-AR" dirty="0" err="1"/>
              <a:t>Purple</a:t>
            </a:r>
            <a:r>
              <a:rPr lang="es-AR" dirty="0"/>
              <a:t> </a:t>
            </a:r>
            <a:r>
              <a:rPr lang="es-AR" dirty="0" err="1"/>
              <a:t>Team</a:t>
            </a:r>
            <a:r>
              <a:rPr lang="es-A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03183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OSINT (Open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dirty="0"/>
              <a:t>Aplicación de OSINT para Red </a:t>
            </a:r>
            <a:r>
              <a:rPr lang="es-AR" dirty="0" err="1"/>
              <a:t>Team</a:t>
            </a:r>
            <a:r>
              <a:rPr lang="es-AR" dirty="0"/>
              <a:t> (ataque controlado)</a:t>
            </a:r>
          </a:p>
          <a:p>
            <a:r>
              <a:rPr lang="es-AR" dirty="0"/>
              <a:t>Recolectar información pública sobre la organización o sus sistemas antes de una simulación de ataque.</a:t>
            </a:r>
          </a:p>
          <a:p>
            <a:r>
              <a:rPr lang="es-AR" dirty="0"/>
              <a:t>Ejemplos:</a:t>
            </a:r>
          </a:p>
          <a:p>
            <a:pPr lvl="1"/>
            <a:r>
              <a:rPr lang="es-AR" sz="1800" dirty="0"/>
              <a:t>Buscar dominios, subdominios y servicios expuestos.</a:t>
            </a:r>
          </a:p>
          <a:p>
            <a:pPr lvl="1"/>
            <a:r>
              <a:rPr lang="es-AR" sz="1800" dirty="0"/>
              <a:t>Analizar huellas digitales en redes sociales o </a:t>
            </a:r>
            <a:r>
              <a:rPr lang="es-AR" sz="1800" dirty="0" err="1"/>
              <a:t>leaks</a:t>
            </a:r>
            <a:r>
              <a:rPr lang="es-AR" sz="1800" dirty="0"/>
              <a:t> públicos.</a:t>
            </a:r>
          </a:p>
          <a:p>
            <a:pPr lvl="1"/>
            <a:r>
              <a:rPr lang="es-AR" sz="1800" dirty="0"/>
              <a:t>Usar herramientas como </a:t>
            </a:r>
            <a:r>
              <a:rPr lang="es-AR" sz="1800" dirty="0" err="1"/>
              <a:t>theHarvester</a:t>
            </a:r>
            <a:r>
              <a:rPr lang="es-AR" sz="1800" dirty="0"/>
              <a:t>, </a:t>
            </a:r>
            <a:r>
              <a:rPr lang="es-AR" sz="1800" dirty="0" err="1"/>
              <a:t>Maltego</a:t>
            </a:r>
            <a:r>
              <a:rPr lang="es-AR" sz="1800" dirty="0"/>
              <a:t> CE, </a:t>
            </a:r>
            <a:r>
              <a:rPr lang="es-AR" sz="1800" dirty="0" err="1"/>
              <a:t>Shodan</a:t>
            </a:r>
            <a:r>
              <a:rPr lang="es-AR" sz="1800" dirty="0"/>
              <a:t>, </a:t>
            </a:r>
            <a:r>
              <a:rPr lang="es-AR" sz="1800" dirty="0" err="1"/>
              <a:t>Recon</a:t>
            </a:r>
            <a:r>
              <a:rPr lang="es-AR" sz="1800" dirty="0"/>
              <a:t>-ng.</a:t>
            </a:r>
          </a:p>
          <a:p>
            <a:r>
              <a:rPr lang="es-AR" dirty="0"/>
              <a:t>Permite simular la fase de reconocimiento realista de un atacante y descubrir vectores de entrada que pueden corregirse antes de que sean explotados.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40004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OSINT (Open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dirty="0"/>
              <a:t>Aplicación de OSINT Blue </a:t>
            </a:r>
            <a:r>
              <a:rPr lang="es-AR" dirty="0" err="1"/>
              <a:t>Team</a:t>
            </a:r>
            <a:r>
              <a:rPr lang="es-AR" dirty="0"/>
              <a:t> (defensa activa)</a:t>
            </a:r>
          </a:p>
          <a:p>
            <a:r>
              <a:rPr lang="es-AR" dirty="0"/>
              <a:t>Monitorear fuentes públicas para detectar indicadores de compromiso (</a:t>
            </a:r>
            <a:r>
              <a:rPr lang="es-AR" dirty="0" err="1"/>
              <a:t>IOCs</a:t>
            </a:r>
            <a:r>
              <a:rPr lang="es-AR" dirty="0"/>
              <a:t>) o amenazas emergentes relacionadas con la organización.</a:t>
            </a:r>
          </a:p>
          <a:p>
            <a:r>
              <a:rPr lang="es-AR" dirty="0"/>
              <a:t>Ejemplos:</a:t>
            </a:r>
          </a:p>
          <a:p>
            <a:pPr lvl="1"/>
            <a:r>
              <a:rPr lang="es-AR" sz="1800" dirty="0"/>
              <a:t>Consultar </a:t>
            </a:r>
            <a:r>
              <a:rPr lang="es-AR" sz="1800" dirty="0" err="1"/>
              <a:t>feeds</a:t>
            </a:r>
            <a:r>
              <a:rPr lang="es-AR" sz="1800" dirty="0"/>
              <a:t> de amenazas y </a:t>
            </a:r>
            <a:r>
              <a:rPr lang="es-AR" sz="1800" dirty="0" err="1"/>
              <a:t>leaks</a:t>
            </a:r>
            <a:r>
              <a:rPr lang="es-AR" sz="1800" dirty="0"/>
              <a:t> en foros o repositorios.</a:t>
            </a:r>
          </a:p>
          <a:p>
            <a:pPr lvl="1"/>
            <a:r>
              <a:rPr lang="es-AR" sz="1800" dirty="0"/>
              <a:t>Correlacionar </a:t>
            </a:r>
            <a:r>
              <a:rPr lang="es-AR" sz="1800" dirty="0" err="1"/>
              <a:t>IPs</a:t>
            </a:r>
            <a:r>
              <a:rPr lang="es-AR" sz="1800" dirty="0"/>
              <a:t>, hashes o dominios maliciosos con la infraestructura propia.</a:t>
            </a:r>
          </a:p>
          <a:p>
            <a:pPr lvl="1"/>
            <a:r>
              <a:rPr lang="es-AR" sz="1800" dirty="0"/>
              <a:t>Integrar OSINT en herramientas como MISP, </a:t>
            </a:r>
            <a:r>
              <a:rPr lang="es-AR" sz="1800" dirty="0" err="1"/>
              <a:t>Wazuh</a:t>
            </a:r>
            <a:r>
              <a:rPr lang="es-AR" sz="1800" dirty="0"/>
              <a:t>, </a:t>
            </a:r>
            <a:r>
              <a:rPr lang="es-AR" sz="1800" dirty="0" err="1"/>
              <a:t>TheHive</a:t>
            </a:r>
            <a:r>
              <a:rPr lang="es-AR" sz="1800" dirty="0"/>
              <a:t>/</a:t>
            </a:r>
            <a:r>
              <a:rPr lang="es-AR" sz="1800" dirty="0" err="1"/>
              <a:t>Cortex</a:t>
            </a:r>
            <a:r>
              <a:rPr lang="es-AR" sz="1800" dirty="0"/>
              <a:t>.</a:t>
            </a:r>
          </a:p>
          <a:p>
            <a:r>
              <a:rPr lang="es-AR" dirty="0"/>
              <a:t>Fortalece la detección temprana y la inteligencia de amenazas, permitiendo anticiparse a ataques y mejorar la defensa.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27191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OSINT (Open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s-AR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dirty="0"/>
              <a:t>Aplicación de OSINT </a:t>
            </a:r>
            <a:r>
              <a:rPr lang="es-AR" dirty="0" err="1"/>
              <a:t>Purple</a:t>
            </a:r>
            <a:r>
              <a:rPr lang="es-AR" dirty="0"/>
              <a:t> </a:t>
            </a:r>
            <a:r>
              <a:rPr lang="es-AR" dirty="0" err="1"/>
              <a:t>Team</a:t>
            </a:r>
            <a:r>
              <a:rPr lang="es-AR" dirty="0"/>
              <a:t> (colaboración y validación)</a:t>
            </a:r>
          </a:p>
          <a:p>
            <a:r>
              <a:rPr lang="es-AR" dirty="0"/>
              <a:t>Usar fuentes abiertas para emular escenarios reales y validar la cobertura de detección.</a:t>
            </a:r>
          </a:p>
          <a:p>
            <a:r>
              <a:rPr lang="es-AR" dirty="0"/>
              <a:t>Ejemplos:</a:t>
            </a:r>
          </a:p>
          <a:p>
            <a:pPr lvl="1"/>
            <a:r>
              <a:rPr lang="es-AR" sz="1800" dirty="0"/>
              <a:t>Incorporar </a:t>
            </a:r>
            <a:r>
              <a:rPr lang="es-AR" sz="1800" dirty="0" err="1"/>
              <a:t>TTPs</a:t>
            </a:r>
            <a:r>
              <a:rPr lang="es-AR" sz="1800" dirty="0"/>
              <a:t> y campañas de adversarios obtenidas de OSINT en ejercicios ATT&amp;CK.</a:t>
            </a:r>
          </a:p>
          <a:p>
            <a:pPr lvl="1"/>
            <a:r>
              <a:rPr lang="es-AR" sz="1800" dirty="0"/>
              <a:t>Ajustar reglas Sigma y </a:t>
            </a:r>
            <a:r>
              <a:rPr lang="es-AR" sz="1800" dirty="0" err="1"/>
              <a:t>playbooks</a:t>
            </a:r>
            <a:r>
              <a:rPr lang="es-AR" sz="1800" dirty="0"/>
              <a:t> basándose en tendencias o alertas públicas</a:t>
            </a:r>
            <a:r>
              <a:rPr lang="es-AR" dirty="0"/>
              <a:t>.</a:t>
            </a:r>
          </a:p>
          <a:p>
            <a:r>
              <a:rPr lang="es-AR" dirty="0"/>
              <a:t>Sirve como puente entre Red y Blue, transformando la inteligencia pública en ejercicios prácticos y detecciones concretas.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79780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Herramientas open </a:t>
            </a:r>
            <a:r>
              <a:rPr lang="es-ES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b="1" dirty="0"/>
              <a:t>Monitoreo en tiempo real de la infraestructura</a:t>
            </a:r>
          </a:p>
          <a:p>
            <a:pPr marL="114300" indent="0">
              <a:buNone/>
            </a:pPr>
            <a:r>
              <a:rPr lang="es-AR" b="1" dirty="0"/>
              <a:t>•	</a:t>
            </a:r>
            <a:r>
              <a:rPr lang="es-AR" b="1" dirty="0" err="1"/>
              <a:t>Zabbix</a:t>
            </a:r>
            <a:r>
              <a:rPr lang="es-AR" b="1" dirty="0"/>
              <a:t> / Nagios → monitoreo de infraestructura y servicios.</a:t>
            </a:r>
          </a:p>
          <a:p>
            <a:pPr lvl="1"/>
            <a:r>
              <a:rPr lang="es-AR" b="1" dirty="0" err="1"/>
              <a:t>Zabbix</a:t>
            </a:r>
            <a:r>
              <a:rPr lang="es-AR" b="1" dirty="0"/>
              <a:t> y Nagios soluciones reconocidas para monitoreo de infraestructura de TI y disponibilidad de servicios. Permiten supervisar servidores, redes, aplicaciones y dispositivos mediante la recopilación de métricas, verificación de estados y detección de fallos. </a:t>
            </a:r>
          </a:p>
          <a:p>
            <a:pPr lvl="1"/>
            <a:r>
              <a:rPr lang="es-AR" b="1" dirty="0"/>
              <a:t>Nagios,  se destaca por su enfoque basado en </a:t>
            </a:r>
            <a:r>
              <a:rPr lang="es-AR" b="1" dirty="0" err="1"/>
              <a:t>plugins</a:t>
            </a:r>
            <a:r>
              <a:rPr lang="es-AR" b="1" dirty="0"/>
              <a:t> y su capacidad para notificar interrupciones en tiempo real. </a:t>
            </a:r>
          </a:p>
          <a:p>
            <a:pPr lvl="1"/>
            <a:r>
              <a:rPr lang="es-AR" b="1" dirty="0" err="1"/>
              <a:t>Zabbix</a:t>
            </a:r>
            <a:r>
              <a:rPr lang="es-AR" b="1" dirty="0"/>
              <a:t>, ofrece una arquitectura más moderna, con soporte nativo para la recolección de métricas, visualización gráfica, descubrimiento automático de dispositivos y escalabilidad en entornos grandes. </a:t>
            </a:r>
          </a:p>
          <a:p>
            <a:pPr marL="114300" indent="0">
              <a:buNone/>
            </a:pP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141115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Herramientas open </a:t>
            </a:r>
            <a:r>
              <a:rPr lang="es-ES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SOC…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b="1" dirty="0"/>
              <a:t>Monitoreo en tiempo real de la infraestructura</a:t>
            </a:r>
          </a:p>
          <a:p>
            <a:pPr marL="114300" indent="0">
              <a:buNone/>
            </a:pPr>
            <a:r>
              <a:rPr lang="es-AR" b="1" dirty="0"/>
              <a:t>•	</a:t>
            </a:r>
            <a:r>
              <a:rPr lang="es-AR" b="1" dirty="0" err="1"/>
              <a:t>Prometheus</a:t>
            </a:r>
            <a:r>
              <a:rPr lang="es-AR" b="1" dirty="0"/>
              <a:t> + </a:t>
            </a:r>
            <a:r>
              <a:rPr lang="es-AR" b="1" dirty="0" err="1"/>
              <a:t>Grafana</a:t>
            </a:r>
            <a:r>
              <a:rPr lang="es-AR" b="1" dirty="0"/>
              <a:t> → métricas y </a:t>
            </a:r>
            <a:r>
              <a:rPr lang="es-AR" b="1" dirty="0" err="1"/>
              <a:t>dashboards</a:t>
            </a:r>
            <a:r>
              <a:rPr lang="es-AR" b="1" dirty="0"/>
              <a:t> en tiempo real.</a:t>
            </a:r>
          </a:p>
          <a:p>
            <a:pPr marL="857250" lvl="1" indent="-285750"/>
            <a:r>
              <a:rPr lang="es-AR" b="1" dirty="0" err="1"/>
              <a:t>Prometheus</a:t>
            </a:r>
            <a:r>
              <a:rPr lang="es-AR" b="1" dirty="0"/>
              <a:t> y </a:t>
            </a:r>
            <a:r>
              <a:rPr lang="es-AR" b="1" dirty="0" err="1"/>
              <a:t>Grafana</a:t>
            </a:r>
            <a:r>
              <a:rPr lang="es-AR" b="1" dirty="0"/>
              <a:t> conforman un </a:t>
            </a:r>
            <a:r>
              <a:rPr lang="es-AR" b="1" dirty="0" err="1"/>
              <a:t>stack</a:t>
            </a:r>
            <a:r>
              <a:rPr lang="es-AR" b="1" dirty="0"/>
              <a:t> ampliamente adoptado para el monitoreo basado en métricas y la visualización en tiempo real. </a:t>
            </a:r>
          </a:p>
          <a:p>
            <a:pPr marL="857250" lvl="1" indent="-285750"/>
            <a:r>
              <a:rPr lang="es-AR" b="1" dirty="0" err="1"/>
              <a:t>Prometheus</a:t>
            </a:r>
            <a:r>
              <a:rPr lang="es-AR" b="1" dirty="0"/>
              <a:t> sistema de recolección y almacenamiento de series temporales, diseñado para entornos dinámicos como los basados en contenedores o microservicios. Recoge métricas mediante un modelo de </a:t>
            </a:r>
            <a:r>
              <a:rPr lang="es-AR" b="1" dirty="0" err="1"/>
              <a:t>pull</a:t>
            </a:r>
            <a:r>
              <a:rPr lang="es-AR" b="1" dirty="0"/>
              <a:t> y permite consultas avanzadas con su lenguaje </a:t>
            </a:r>
            <a:r>
              <a:rPr lang="es-AR" b="1" dirty="0" err="1"/>
              <a:t>PromQL</a:t>
            </a:r>
            <a:r>
              <a:rPr lang="es-AR" b="1" dirty="0"/>
              <a:t>. </a:t>
            </a:r>
          </a:p>
          <a:p>
            <a:pPr marL="857250" lvl="1" indent="-285750"/>
            <a:r>
              <a:rPr lang="es-AR" b="1" dirty="0" err="1"/>
              <a:t>Grafana</a:t>
            </a:r>
            <a:r>
              <a:rPr lang="es-AR" b="1" dirty="0"/>
              <a:t>, se integra perfectamente con </a:t>
            </a:r>
            <a:r>
              <a:rPr lang="es-AR" b="1" dirty="0" err="1"/>
              <a:t>Prometheus</a:t>
            </a:r>
            <a:r>
              <a:rPr lang="es-AR" b="1" dirty="0"/>
              <a:t> (y otras fuentes de datos) para ofrecer </a:t>
            </a:r>
            <a:r>
              <a:rPr lang="es-AR" b="1" dirty="0" err="1"/>
              <a:t>dashboards</a:t>
            </a:r>
            <a:r>
              <a:rPr lang="es-AR" b="1" dirty="0"/>
              <a:t> interactivos, altamente personalizables y en tiempo real, facilitando la </a:t>
            </a:r>
            <a:r>
              <a:rPr lang="es-AR" b="1" dirty="0" err="1"/>
              <a:t>observabilidad</a:t>
            </a:r>
            <a:r>
              <a:rPr lang="es-AR" b="1" dirty="0"/>
              <a:t> del rendimiento del sistema, la capacidad de respuesta ante incidentes y la toma de decisiones basada en datos.</a:t>
            </a:r>
          </a:p>
          <a:p>
            <a:pPr marL="114300" indent="0">
              <a:buNone/>
            </a:pP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611012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Herramientas open </a:t>
            </a:r>
            <a:r>
              <a:rPr lang="es-ES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SOC…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b="1" dirty="0"/>
              <a:t>Monitoreo en tiempo real de la infraestructura</a:t>
            </a:r>
          </a:p>
          <a:p>
            <a:pPr marL="114300" indent="0">
              <a:buNone/>
            </a:pPr>
            <a:r>
              <a:rPr lang="es-AR" b="1" dirty="0"/>
              <a:t>•	</a:t>
            </a:r>
            <a:r>
              <a:rPr lang="es-AR" b="1" dirty="0" err="1"/>
              <a:t>Elastalert</a:t>
            </a:r>
            <a:r>
              <a:rPr lang="es-AR" b="1" dirty="0"/>
              <a:t> (con </a:t>
            </a:r>
            <a:r>
              <a:rPr lang="es-AR" b="1" dirty="0" err="1"/>
              <a:t>Elastic</a:t>
            </a:r>
            <a:r>
              <a:rPr lang="es-AR" b="1" dirty="0"/>
              <a:t> </a:t>
            </a:r>
            <a:r>
              <a:rPr lang="es-AR" b="1" dirty="0" err="1"/>
              <a:t>Stack</a:t>
            </a:r>
            <a:r>
              <a:rPr lang="es-AR" b="1" dirty="0"/>
              <a:t>) → alertas basadas en logs.</a:t>
            </a:r>
          </a:p>
          <a:p>
            <a:pPr lvl="1"/>
            <a:r>
              <a:rPr lang="es-AR" b="1" u="sng" dirty="0" err="1"/>
              <a:t>ElastAlert</a:t>
            </a:r>
            <a:r>
              <a:rPr lang="es-AR" b="1" dirty="0"/>
              <a:t>, (</a:t>
            </a:r>
            <a:r>
              <a:rPr lang="es-AR" b="1" dirty="0" err="1"/>
              <a:t>Yelp</a:t>
            </a:r>
            <a:r>
              <a:rPr lang="es-AR" b="1" dirty="0"/>
              <a:t>) herramienta de alertas diseñada para trabajar en conjunto con el </a:t>
            </a:r>
            <a:r>
              <a:rPr lang="es-AR" b="1" u="sng" dirty="0" err="1"/>
              <a:t>Elastic</a:t>
            </a:r>
            <a:r>
              <a:rPr lang="es-AR" b="1" u="sng" dirty="0"/>
              <a:t> </a:t>
            </a:r>
            <a:r>
              <a:rPr lang="es-AR" b="1" u="sng" dirty="0" err="1"/>
              <a:t>Stack</a:t>
            </a:r>
            <a:r>
              <a:rPr lang="es-AR" b="1" u="sng" dirty="0"/>
              <a:t> (</a:t>
            </a:r>
            <a:r>
              <a:rPr lang="es-AR" b="1" u="sng" dirty="0" err="1"/>
              <a:t>Elasticsearch</a:t>
            </a:r>
            <a:r>
              <a:rPr lang="es-AR" b="1" u="sng" dirty="0"/>
              <a:t>, </a:t>
            </a:r>
            <a:r>
              <a:rPr lang="es-AR" b="1" u="sng" dirty="0" err="1"/>
              <a:t>Logstash</a:t>
            </a:r>
            <a:r>
              <a:rPr lang="es-AR" b="1" u="sng" dirty="0"/>
              <a:t> y </a:t>
            </a:r>
            <a:r>
              <a:rPr lang="es-AR" b="1" u="sng" dirty="0" err="1"/>
              <a:t>Kibana</a:t>
            </a:r>
            <a:r>
              <a:rPr lang="es-AR" b="1" u="sng" dirty="0"/>
              <a:t>). </a:t>
            </a:r>
          </a:p>
          <a:p>
            <a:pPr lvl="1"/>
            <a:r>
              <a:rPr lang="es-AR" b="1" dirty="0"/>
              <a:t>Permite definir reglas que analizan flujos de logs almacenados en </a:t>
            </a:r>
            <a:r>
              <a:rPr lang="es-AR" b="1" dirty="0" err="1"/>
              <a:t>Elasticsearch</a:t>
            </a:r>
            <a:r>
              <a:rPr lang="es-AR" b="1" dirty="0"/>
              <a:t> y generan notificaciones cuando se cumplen ciertas condiciones, como picos de errores, patrones sospechosos o umbrales superados. </a:t>
            </a:r>
          </a:p>
          <a:p>
            <a:pPr lvl="1"/>
            <a:r>
              <a:rPr lang="es-AR" b="1" dirty="0"/>
              <a:t>Para </a:t>
            </a:r>
            <a:r>
              <a:rPr lang="es-AR" b="1" dirty="0" err="1"/>
              <a:t>observabilidad</a:t>
            </a:r>
            <a:r>
              <a:rPr lang="es-AR" b="1" dirty="0"/>
              <a:t> basada en el análisis de logs, transforma datos crudos en alertas accionables mediante canales como correo electrónico, </a:t>
            </a:r>
            <a:r>
              <a:rPr lang="es-AR" b="1" dirty="0" err="1"/>
              <a:t>Slack</a:t>
            </a:r>
            <a:r>
              <a:rPr lang="es-AR" b="1" dirty="0"/>
              <a:t>, </a:t>
            </a:r>
            <a:r>
              <a:rPr lang="es-AR" b="1" dirty="0" err="1"/>
              <a:t>PagerDuty</a:t>
            </a:r>
            <a:r>
              <a:rPr lang="es-AR" b="1" dirty="0"/>
              <a:t>, entre otros. </a:t>
            </a:r>
          </a:p>
          <a:p>
            <a:pPr lvl="1"/>
            <a:r>
              <a:rPr lang="es-AR" b="1" u="sng" dirty="0"/>
              <a:t>con </a:t>
            </a:r>
            <a:r>
              <a:rPr lang="es-AR" b="1" u="sng" dirty="0" err="1"/>
              <a:t>Kibana</a:t>
            </a:r>
            <a:r>
              <a:rPr lang="es-AR" b="1" dirty="0"/>
              <a:t>, también facilita la visualización y el ajuste de las reglas de alerta, mejorando la capacidad de respuesta ante incidentes de seguridad o fallos operativos.</a:t>
            </a:r>
          </a:p>
          <a:p>
            <a:pPr marL="114300" indent="0">
              <a:buNone/>
            </a:pP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034026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Herramientas open </a:t>
            </a:r>
            <a:r>
              <a:rPr lang="es-ES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SOC…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b="1" dirty="0"/>
              <a:t>•	</a:t>
            </a:r>
            <a:r>
              <a:rPr lang="es-AR" b="1" dirty="0" err="1"/>
              <a:t>Wazuh</a:t>
            </a:r>
            <a:r>
              <a:rPr lang="es-AR" b="1" dirty="0"/>
              <a:t> → SIEM open </a:t>
            </a:r>
            <a:r>
              <a:rPr lang="es-AR" b="1" dirty="0" err="1"/>
              <a:t>source</a:t>
            </a:r>
            <a:r>
              <a:rPr lang="es-AR" b="1" dirty="0"/>
              <a:t> con correlación de eventos, integración con </a:t>
            </a:r>
            <a:r>
              <a:rPr lang="es-AR" b="1" dirty="0" err="1"/>
              <a:t>Elastic</a:t>
            </a:r>
            <a:r>
              <a:rPr lang="es-AR" b="1" dirty="0"/>
              <a:t>, capacidades de EDR.</a:t>
            </a:r>
          </a:p>
          <a:p>
            <a:pPr marL="571500" lvl="1" indent="0">
              <a:buNone/>
            </a:pPr>
            <a:r>
              <a:rPr lang="es-AR" b="1" dirty="0" err="1"/>
              <a:t>Wazuh</a:t>
            </a:r>
            <a:r>
              <a:rPr lang="es-AR" b="1" dirty="0"/>
              <a:t> plataforma de seguridad de código abierto, combina funcionalidades de un SIEM (Security </a:t>
            </a:r>
            <a:r>
              <a:rPr lang="es-AR" b="1" dirty="0" err="1"/>
              <a:t>Information</a:t>
            </a:r>
            <a:r>
              <a:rPr lang="es-AR" b="1" dirty="0"/>
              <a:t> and </a:t>
            </a:r>
            <a:r>
              <a:rPr lang="es-AR" b="1" dirty="0" err="1"/>
              <a:t>Event</a:t>
            </a:r>
            <a:r>
              <a:rPr lang="es-AR" b="1" dirty="0"/>
              <a:t> Management) con capacidades de EDR (</a:t>
            </a:r>
            <a:r>
              <a:rPr lang="es-AR" b="1" dirty="0" err="1"/>
              <a:t>Endpoint</a:t>
            </a:r>
            <a:r>
              <a:rPr lang="es-AR" b="1" dirty="0"/>
              <a:t> </a:t>
            </a:r>
            <a:r>
              <a:rPr lang="es-AR" b="1" dirty="0" err="1"/>
              <a:t>Detection</a:t>
            </a:r>
            <a:r>
              <a:rPr lang="es-AR" b="1" dirty="0"/>
              <a:t> and Response). </a:t>
            </a:r>
          </a:p>
          <a:p>
            <a:pPr marL="571500" lvl="1" indent="0">
              <a:buNone/>
            </a:pPr>
            <a:r>
              <a:rPr lang="es-AR" b="1" dirty="0"/>
              <a:t>Permite la centralización, análisis y correlación en tiempo real de eventos de seguridad provenientes de múltiples fuentes, incluyendo sistemas operativos, aplicaciones y dispositivos de red. </a:t>
            </a:r>
          </a:p>
          <a:p>
            <a:pPr marL="571500" lvl="1" indent="0">
              <a:buNone/>
            </a:pPr>
            <a:r>
              <a:rPr lang="es-AR" b="1" dirty="0"/>
              <a:t>Se integra nativamente con el </a:t>
            </a:r>
            <a:r>
              <a:rPr lang="es-AR" b="1" dirty="0" err="1"/>
              <a:t>Elastic</a:t>
            </a:r>
            <a:r>
              <a:rPr lang="es-AR" b="1" dirty="0"/>
              <a:t> </a:t>
            </a:r>
            <a:r>
              <a:rPr lang="es-AR" b="1" dirty="0" err="1"/>
              <a:t>Stack</a:t>
            </a:r>
            <a:r>
              <a:rPr lang="es-AR" b="1" dirty="0"/>
              <a:t> (</a:t>
            </a:r>
            <a:r>
              <a:rPr lang="es-AR" b="1" dirty="0" err="1"/>
              <a:t>Elasticsearch</a:t>
            </a:r>
            <a:r>
              <a:rPr lang="es-AR" b="1" dirty="0"/>
              <a:t>, </a:t>
            </a:r>
            <a:r>
              <a:rPr lang="es-AR" b="1" dirty="0" err="1"/>
              <a:t>Logstash</a:t>
            </a:r>
            <a:r>
              <a:rPr lang="es-AR" b="1" dirty="0"/>
              <a:t> y </a:t>
            </a:r>
            <a:r>
              <a:rPr lang="es-AR" b="1" dirty="0" err="1"/>
              <a:t>Kibana</a:t>
            </a:r>
            <a:r>
              <a:rPr lang="es-AR" b="1" dirty="0"/>
              <a:t>), lo que facilita la indexación, visualización y búsqueda eficiente de alertas y logs. Además, ofrece detección de intrusiones, monitoreo de integridad de archivos, cumplimiento normativo (como PCI DSS o GDPR) y respuesta activa en </a:t>
            </a:r>
            <a:r>
              <a:rPr lang="es-AR" b="1" dirty="0" err="1"/>
              <a:t>endpoints</a:t>
            </a:r>
            <a:r>
              <a:rPr lang="es-A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79970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Herramientas open </a:t>
            </a:r>
            <a:r>
              <a:rPr lang="es-ES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SOC…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b="1" dirty="0"/>
              <a:t>•	</a:t>
            </a:r>
            <a:r>
              <a:rPr lang="es-AR" b="1" dirty="0" err="1"/>
              <a:t>TheHive</a:t>
            </a:r>
            <a:r>
              <a:rPr lang="es-AR" b="1" dirty="0"/>
              <a:t> → gestión de incidentes, integrable con </a:t>
            </a:r>
            <a:r>
              <a:rPr lang="es-AR" b="1" dirty="0" err="1"/>
              <a:t>Cortex</a:t>
            </a:r>
            <a:r>
              <a:rPr lang="es-AR" b="1" dirty="0"/>
              <a:t> y MISP.</a:t>
            </a:r>
          </a:p>
          <a:p>
            <a:pPr lvl="1"/>
            <a:r>
              <a:rPr lang="es-AR" b="1" dirty="0" err="1"/>
              <a:t>TheHive</a:t>
            </a:r>
            <a:r>
              <a:rPr lang="es-AR" b="1" dirty="0"/>
              <a:t> una plataforma para la gestión colaborativa de incidentes de ciberseguridad. </a:t>
            </a:r>
          </a:p>
          <a:p>
            <a:pPr lvl="1"/>
            <a:r>
              <a:rPr lang="es-AR" b="1" dirty="0"/>
              <a:t>Permite a los equipos de respuesta (CSIRT/SOC) crear, asignar, priorizar y rastrear casos de seguridad de forma eficiente, manteniendo un registro detallado de todas las acciones realizadas. </a:t>
            </a:r>
          </a:p>
          <a:p>
            <a:pPr lvl="1"/>
            <a:r>
              <a:rPr lang="es-AR" b="1" dirty="0"/>
              <a:t>Arquitectura modular facilita la integración con herramientas complementarias: se conecta con </a:t>
            </a:r>
          </a:p>
          <a:p>
            <a:pPr lvl="1"/>
            <a:r>
              <a:rPr lang="es-AR" b="1" dirty="0"/>
              <a:t>**</a:t>
            </a:r>
            <a:r>
              <a:rPr lang="es-AR" b="1" dirty="0" err="1"/>
              <a:t>Cortex</a:t>
            </a:r>
            <a:r>
              <a:rPr lang="es-AR" b="1" dirty="0"/>
              <a:t>** para la automatización de análisis forense mediante analizadores y respondedores</a:t>
            </a:r>
          </a:p>
          <a:p>
            <a:pPr lvl="1"/>
            <a:r>
              <a:rPr lang="es-AR" b="1" dirty="0"/>
              <a:t>**MISP** (</a:t>
            </a:r>
            <a:r>
              <a:rPr lang="es-AR" b="1" dirty="0" err="1"/>
              <a:t>Platform</a:t>
            </a:r>
            <a:r>
              <a:rPr lang="es-AR" b="1" dirty="0"/>
              <a:t> </a:t>
            </a:r>
            <a:r>
              <a:rPr lang="es-AR" b="1" dirty="0" err="1"/>
              <a:t>for</a:t>
            </a:r>
            <a:r>
              <a:rPr lang="es-AR" b="1" dirty="0"/>
              <a:t> </a:t>
            </a:r>
            <a:r>
              <a:rPr lang="es-AR" b="1" dirty="0" err="1"/>
              <a:t>Sharing</a:t>
            </a:r>
            <a:r>
              <a:rPr lang="es-AR" b="1" dirty="0"/>
              <a:t> </a:t>
            </a:r>
            <a:r>
              <a:rPr lang="es-AR" b="1" dirty="0" err="1"/>
              <a:t>Threat</a:t>
            </a:r>
            <a:r>
              <a:rPr lang="es-AR" b="1" dirty="0"/>
              <a:t> </a:t>
            </a:r>
            <a:r>
              <a:rPr lang="es-AR" b="1" dirty="0" err="1"/>
              <a:t>Intelligence</a:t>
            </a:r>
            <a:r>
              <a:rPr lang="es-AR" b="1" dirty="0"/>
              <a:t>) para enriquecer los casos con inteligencia de amenazas en tiempo real. </a:t>
            </a:r>
          </a:p>
          <a:p>
            <a:pPr marL="114300" indent="0">
              <a:buNone/>
            </a:pP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0395917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706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Herramientas open </a:t>
            </a:r>
            <a:r>
              <a:rPr lang="es-ES" b="1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s-E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SOC…</a:t>
            </a:r>
            <a:br>
              <a:rPr lang="es-ES" b="1" dirty="0"/>
            </a:br>
            <a:endParaRPr dirty="0">
              <a:solidFill>
                <a:srgbClr val="674EA7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4427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s-AR" b="1" dirty="0"/>
              <a:t>•	</a:t>
            </a:r>
            <a:r>
              <a:rPr lang="es-AR" b="1" dirty="0" err="1"/>
              <a:t>Suricata</a:t>
            </a:r>
            <a:r>
              <a:rPr lang="es-AR" b="1" dirty="0"/>
              <a:t> → IDS/IPS de red con soporte para detección avanzada.</a:t>
            </a:r>
          </a:p>
          <a:p>
            <a:pPr marL="114300" indent="0">
              <a:buNone/>
            </a:pPr>
            <a:r>
              <a:rPr lang="es-AR" b="1" dirty="0"/>
              <a:t>•	</a:t>
            </a:r>
            <a:r>
              <a:rPr lang="es-AR" b="1" dirty="0" err="1"/>
              <a:t>Snort</a:t>
            </a:r>
            <a:r>
              <a:rPr lang="es-AR" b="1" dirty="0"/>
              <a:t> → IDS/IPS muy usado en entornos SOC.</a:t>
            </a:r>
          </a:p>
          <a:p>
            <a:pPr marL="114300" indent="0">
              <a:buNone/>
            </a:pPr>
            <a:r>
              <a:rPr lang="es-AR" b="1" dirty="0"/>
              <a:t>•	</a:t>
            </a:r>
            <a:r>
              <a:rPr lang="es-AR" b="1" dirty="0" err="1"/>
              <a:t>Osquery</a:t>
            </a:r>
            <a:r>
              <a:rPr lang="es-AR" b="1" dirty="0"/>
              <a:t> → para monitoreo y análisis de </a:t>
            </a:r>
            <a:r>
              <a:rPr lang="es-AR" b="1" dirty="0" err="1"/>
              <a:t>endpoints</a:t>
            </a:r>
            <a:r>
              <a:rPr lang="es-AR" b="1" dirty="0"/>
              <a:t> (similar a EDR).</a:t>
            </a:r>
          </a:p>
          <a:p>
            <a:pPr marL="114300" indent="0">
              <a:buNone/>
            </a:pP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33797723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33411</TotalTime>
  <Words>3318</Words>
  <Application>Microsoft Office PowerPoint</Application>
  <PresentationFormat>Presentación en pantalla (16:9)</PresentationFormat>
  <Paragraphs>251</Paragraphs>
  <Slides>36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9" baseType="lpstr">
      <vt:lpstr>Arial</vt:lpstr>
      <vt:lpstr>Calibri</vt:lpstr>
      <vt:lpstr>Simple Light</vt:lpstr>
      <vt:lpstr>Presentación de PowerPoint</vt:lpstr>
      <vt:lpstr>Estructuras Ciberseguridad </vt:lpstr>
      <vt:lpstr>Estructuras Ciberseguridad </vt:lpstr>
      <vt:lpstr>Herramientas para SOC y CSIRT </vt:lpstr>
      <vt:lpstr>SIEM Open Source  </vt:lpstr>
      <vt:lpstr>SOC (Security Operations Center)</vt:lpstr>
      <vt:lpstr>SOC (Security Operations Center)…</vt:lpstr>
      <vt:lpstr>CSIRT (Computer Security Incident Response Team)</vt:lpstr>
      <vt:lpstr>CSIRT…</vt:lpstr>
      <vt:lpstr>Combinación típica SOC/CSIRT open source:</vt:lpstr>
      <vt:lpstr>Combinación típica SOC/CSIRT open source…</vt:lpstr>
      <vt:lpstr>Combinación típica SOC/CSIRT open source…</vt:lpstr>
      <vt:lpstr>Combinación típica SOC/CSIRT open source…</vt:lpstr>
      <vt:lpstr>Flujo de trabajo de seguridad integral:</vt:lpstr>
      <vt:lpstr>Equipos operativos en Ciberseguridad </vt:lpstr>
      <vt:lpstr>Equipos operativos en Ciberseguridad </vt:lpstr>
      <vt:lpstr>Red Team — Técnicas y Herramientas</vt:lpstr>
      <vt:lpstr>Red Team — Técnicas y Herramientas</vt:lpstr>
      <vt:lpstr>Blue Team — Técnicas y Herramientas</vt:lpstr>
      <vt:lpstr>Blue Team — Técnicas y Herramientas</vt:lpstr>
      <vt:lpstr>Purple Team — Técnicas y Herramientas</vt:lpstr>
      <vt:lpstr>TTPs (Tactics, Techniques, and Procedures)</vt:lpstr>
      <vt:lpstr>Mapeo defensivo a MITRE ATT&amp;CK</vt:lpstr>
      <vt:lpstr>Checklist operativo</vt:lpstr>
      <vt:lpstr>Purple Team — Técnicas y Herramientas</vt:lpstr>
      <vt:lpstr>Buenas practicas para los tres</vt:lpstr>
      <vt:lpstr>OSINT (Open Source Intelligence)</vt:lpstr>
      <vt:lpstr>OSINT (Open Source Intelligence)</vt:lpstr>
      <vt:lpstr>OSINT (Open Source Intelligence)</vt:lpstr>
      <vt:lpstr>OSINT (Open Source Intelligence)</vt:lpstr>
      <vt:lpstr>Herramientas open source SOC </vt:lpstr>
      <vt:lpstr>Herramientas open source SOC… </vt:lpstr>
      <vt:lpstr>Herramientas open source SOC… </vt:lpstr>
      <vt:lpstr>Herramientas open source SOC… </vt:lpstr>
      <vt:lpstr>Herramientas open source SOC… </vt:lpstr>
      <vt:lpstr>Herramientas open source SOC…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Cespi2</dc:creator>
  <cp:lastModifiedBy>Cespi2</cp:lastModifiedBy>
  <cp:revision>264</cp:revision>
  <cp:lastPrinted>2024-10-07T14:12:33Z</cp:lastPrinted>
  <dcterms:modified xsi:type="dcterms:W3CDTF">2025-11-04T12:36:04Z</dcterms:modified>
</cp:coreProperties>
</file>