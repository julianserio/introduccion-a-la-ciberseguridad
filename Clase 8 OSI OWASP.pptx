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68" r:id="rId2"/>
    <p:sldId id="282" r:id="rId3"/>
    <p:sldId id="283" r:id="rId4"/>
    <p:sldId id="284" r:id="rId5"/>
    <p:sldId id="285" r:id="rId6"/>
    <p:sldId id="286" r:id="rId7"/>
    <p:sldId id="287" r:id="rId8"/>
    <p:sldId id="281" r:id="rId9"/>
    <p:sldId id="269" r:id="rId10"/>
    <p:sldId id="280" r:id="rId11"/>
    <p:sldId id="279" r:id="rId12"/>
    <p:sldId id="290" r:id="rId13"/>
    <p:sldId id="270" r:id="rId14"/>
    <p:sldId id="271" r:id="rId15"/>
    <p:sldId id="272" r:id="rId16"/>
    <p:sldId id="273" r:id="rId17"/>
    <p:sldId id="275" r:id="rId18"/>
    <p:sldId id="276" r:id="rId19"/>
    <p:sldId id="288" r:id="rId20"/>
    <p:sldId id="277" r:id="rId21"/>
    <p:sldId id="289" r:id="rId22"/>
    <p:sldId id="274" r:id="rId23"/>
    <p:sldId id="278" r:id="rId24"/>
    <p:sldId id="291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302" r:id="rId35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213E01-EC01-4C81-BE74-C4571998C7B7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232288-130D-416D-B8C8-314BEAB8673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495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6392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0204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64764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268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615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02908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3238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07294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1030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33598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5639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6233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6728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498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43896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577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240809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28512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77031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1788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48901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80cd58262f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80cd58262f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00976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Introducción a la sección. Explicar que usaremos ejemplos de bajo nivel (no explotables) y foco en mitigaciones y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Introducción a la sección. Explicar que usaremos ejemplos de bajo nivel (no explotables) y foco en mitigaciones y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44688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Introducción a la sección. Explicar que usaremos ejemplos de bajo nivel (no explotables) y foco en mitigaciones y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934339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Introducción a la sección. Explicar que usaremos ejemplos de bajo nivel (no explotables) y foco en mitigaciones y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245664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Introducción a la sección. Explicar que usaremos ejemplos de bajo nivel (no explotables) y foco en mitigaciones y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143400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Introducción a la sección. Explicar que usaremos ejemplos de bajo nivel (no explotables) y foco en mitigaciones y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625893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Introducción a la sección. Explicar que usaremos ejemplos de bajo nivel (no explotables) y foco en mitigaciones y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655481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Introducción a la sección. Explicar que usaremos ejemplos de bajo nivel (no explotables) y foco en mitigaciones y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375008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Introducción a la sección. Explicar que usaremos ejemplos de bajo nivel (no explotables) y foco en mitigaciones y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46398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Introducción a la sección. Explicar que usaremos ejemplos de bajo nivel (no explotables) y foco en mitigaciones y detección.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3707607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 sz="1200"/>
            </a:pPr>
            <a:r>
              <a:t>Notas del orador: repasar cada punto con ejemplos reales de la organización, mostrar cómo incorporar estas prácticas en el ciclo de desarrollo (SDLC).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1311A-CF28-4912-9C63-2CE31314C5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4545EA-62F4-4F37-87C6-D2B1059A1E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56B6DFE-C6DA-4C29-BBC0-2CEA20D1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CF9766-7596-43FC-A8C9-7413A5C5A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A156D0-D7E3-49C6-9CE4-6FE8A572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0574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B64FA6-9690-49D5-A575-6790C6D66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056CDE-4FD0-4307-B97B-BB84AE219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304C48-8571-4806-B6B4-747DBC82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C4EB60-3A56-4447-8A5A-DE7A3B0F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7C259B-25D7-496F-9947-06D632B83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687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F04282-C2F8-471D-8FA2-8E38587ED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0A4A51-C8A7-4C39-B4B3-D74BAA3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97C756-CAD8-4BA2-B6F8-7FD48F853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C08537-B9CB-4FEB-96F3-A8EFD0D2C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D2BAC83-5586-4715-9CCB-3FABA9F89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68766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7A7E6-CA9D-4C8D-8B12-D20730DB5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054B47-7F57-4899-866E-B3EF5F682A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9A75D5-5D79-4EC6-BA27-69F7E9298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84737B-39D0-4818-8426-52F15E92B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5D4301-E4C6-4447-9185-1C3670B5B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F08529B-9EF1-4463-BC9F-F8DAB20AD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8216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74CEE-C273-4CEC-876F-DFDB6EAD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2610674-5A9C-4741-8B72-67508320D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C79614-11A7-42E6-ADC3-63D445FFD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437D12-C925-4BA5-8364-F1D09A2BD6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4B1DB58-B7B9-49BE-AE0B-0BFD319A1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CD4199-577C-4EBD-AB92-8DFC5BDD4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2500925-3EDC-4BB0-9C3E-D2A5AE2AC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0CDEEE-2DCA-4E8A-BEEB-5A844F298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1152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61EC4-A8D5-4BD2-B45B-6928F26F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D0866A5-6B79-45FF-9C3F-EE691EE95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E47388C-1DB0-4E45-81D4-46B5AE28B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4DEDC82-BCEC-4EFB-A305-4082C9581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9342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1CE7820-5131-4BA1-B2F7-DE2CF4BE5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ABFE386-7512-474B-ABB5-12F21092B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49B103-4604-43A3-A631-7B4E1F002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187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C2C54-2C05-4F71-84B3-E9630A40D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89A8A2-7778-4D96-9B2F-D2FFA7D20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FDB61B-9A38-48EB-88F9-D58A1E70A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3C4379-2E39-4080-A880-B7D076BC4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16E5F73-831C-4BFF-8D0D-7C50B591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6F43F1C-5821-4643-8E20-4A868454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97718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438D6-8508-408A-8E49-0AE13E51D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6E6DB65-80FA-41AF-893D-A67FC43AE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C4F2EB-665B-46D0-865B-581FC58B69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EA597F-4FEB-4EBD-B1A7-DA2C6579D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DCD9AD3-5887-4229-AC96-A5CFA4079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34A37A6-BA0F-4BD3-B23B-ABF945026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6055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CD6F0-FD6E-44CC-9079-ADA401411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1DAEA15-E919-4CCD-A568-5D353B6EF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B66F42-D33E-43ED-9198-B7CC15B4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ADE12D-5500-4EA3-B7E7-4BABFF90A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1969FA-8D89-4182-896D-4154AB87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860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9BC5B9-E35D-4D49-8D87-033AB56F1C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B5A97A-3F33-42F0-A8BA-83E3CE3AC3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A698EBB-B363-4017-8716-FD3B6C2A1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6D67C8-64D6-4CD7-BB84-13E3F167B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2DAFBF-DB90-4354-92FB-1F63DAA4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7262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just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just">
              <a:spcBef>
                <a:spcPts val="2133"/>
              </a:spcBef>
              <a:spcAft>
                <a:spcPts val="0"/>
              </a:spcAft>
              <a:buSzPts val="1400"/>
              <a:buChar char="■"/>
              <a:defRPr sz="2267"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AR" smtClean="0"/>
              <a:pPr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0966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173D932-1FE2-482D-A36E-C65EF035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A151EE-31D1-4B54-9211-7B0FDAC27D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CA38CD-B81F-4F0A-B360-20C679C2D6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84DF9-CAA4-4643-8A79-7240116F819F}" type="datetimeFigureOut">
              <a:rPr lang="es-AR" smtClean="0"/>
              <a:t>10/11/2025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BD36A9-1E10-4938-8032-6AECC88A8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096FCB-CA0D-4CBA-8AD4-A7F794BCE4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A9AC1-C5BD-4301-A28E-38043DAA2058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7876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project-cloud-native-application-security-top-10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owasp.org/index.php/OWASP_Internet_of_Things_Project#tab=IoT_Top_10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Capa 1: Física: Transmisión de bits crudos a través de un medio físico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Acceso Físico No Autorizado: Manipulación de cables, </a:t>
            </a:r>
            <a:r>
              <a:rPr lang="es-AR" sz="2400" dirty="0" err="1"/>
              <a:t>routers</a:t>
            </a:r>
            <a:r>
              <a:rPr lang="es-AR" sz="2400" dirty="0"/>
              <a:t>, servidores.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"</a:t>
            </a:r>
            <a:r>
              <a:rPr lang="es-AR" sz="2400" dirty="0" err="1"/>
              <a:t>Tap</a:t>
            </a:r>
            <a:r>
              <a:rPr lang="es-AR" sz="2400" dirty="0"/>
              <a:t>" en Cables: Intercepción de datos mediante dispositivos de escucha (ej. </a:t>
            </a:r>
            <a:r>
              <a:rPr lang="es-AR" sz="2400" dirty="0" err="1"/>
              <a:t>wiretapping</a:t>
            </a:r>
            <a:r>
              <a:rPr lang="es-AR" sz="2400" dirty="0"/>
              <a:t>).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Interferencia Electromagnética (EMI): Disrupción de la señal, denegación de servicio.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Robo de Hardware: Sustracción de dispositivos de red o servidores.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Vulnerabilidades en Dispositivos: Firmware sin actualizar en </a:t>
            </a:r>
            <a:r>
              <a:rPr lang="es-AR" sz="2400" dirty="0" err="1"/>
              <a:t>switches</a:t>
            </a:r>
            <a:r>
              <a:rPr lang="es-AR" sz="2400" dirty="0"/>
              <a:t>/</a:t>
            </a:r>
            <a:r>
              <a:rPr lang="es-AR" sz="2400" dirty="0" err="1"/>
              <a:t>routers</a:t>
            </a:r>
            <a:r>
              <a:rPr lang="es-AR" sz="2400" dirty="0"/>
              <a:t> (puertos abiertos, configuraciones por defecto).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Ingeniería Social: Convencer a alguien para que otorgue acceso físico.</a:t>
            </a:r>
          </a:p>
          <a:p>
            <a:pPr marL="0" indent="0" algn="l">
              <a:lnSpc>
                <a:spcPct val="100000"/>
              </a:lnSpc>
              <a:buNone/>
            </a:pPr>
            <a:endParaRPr lang="es-AR" dirty="0"/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Ejemplo de Ataque: Cortar un cable de fibra óptica para causar DoS.</a:t>
            </a:r>
          </a:p>
          <a:p>
            <a:pPr marL="1066785" lvl="1" indent="-457200">
              <a:lnSpc>
                <a:spcPct val="100000"/>
              </a:lnSpc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s-AR" b="1" dirty="0">
                <a:solidFill>
                  <a:srgbClr val="674EA7"/>
                </a:solidFill>
              </a:rPr>
              <a:t>Amenazas y Vulnerabilidades por Capa OSI</a:t>
            </a:r>
            <a:endParaRPr b="1" dirty="0">
              <a:solidFill>
                <a:srgbClr val="674EA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Transferencia de datos entre nodos adyacentes, direccionamiento MAC.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sz="2400" dirty="0"/>
              <a:t>ARP </a:t>
            </a:r>
            <a:r>
              <a:rPr lang="es-AR" sz="2400" dirty="0" err="1"/>
              <a:t>Poisoning</a:t>
            </a:r>
            <a:r>
              <a:rPr lang="es-AR" sz="2400" dirty="0"/>
              <a:t> / ARP </a:t>
            </a:r>
            <a:r>
              <a:rPr lang="es-AR" sz="2400" dirty="0" err="1"/>
              <a:t>Spoofing</a:t>
            </a:r>
            <a:r>
              <a:rPr lang="es-AR" sz="2400" dirty="0"/>
              <a:t>: Asociación de MAC incorrecta con IP para interceptar tráfico (Man-in-</a:t>
            </a:r>
            <a:r>
              <a:rPr lang="es-AR" sz="2400" dirty="0" err="1"/>
              <a:t>the</a:t>
            </a:r>
            <a:r>
              <a:rPr lang="es-AR" sz="2400" dirty="0"/>
              <a:t>-</a:t>
            </a:r>
            <a:r>
              <a:rPr lang="es-AR" sz="2400" dirty="0" err="1"/>
              <a:t>Middle</a:t>
            </a:r>
            <a:r>
              <a:rPr lang="es-AR" sz="2400" dirty="0"/>
              <a:t>).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sz="2400" dirty="0"/>
              <a:t>MAC </a:t>
            </a:r>
            <a:r>
              <a:rPr lang="es-AR" sz="2400" dirty="0" err="1"/>
              <a:t>Flooding</a:t>
            </a:r>
            <a:r>
              <a:rPr lang="es-AR" sz="2400" dirty="0"/>
              <a:t>: Inundar </a:t>
            </a:r>
            <a:r>
              <a:rPr lang="es-AR" sz="2400" dirty="0" err="1"/>
              <a:t>switches</a:t>
            </a:r>
            <a:r>
              <a:rPr lang="es-AR" sz="2400" dirty="0"/>
              <a:t> con direcciones MAC falsas para forzar el modo "</a:t>
            </a:r>
            <a:r>
              <a:rPr lang="es-AR" sz="2400" dirty="0" err="1"/>
              <a:t>hub</a:t>
            </a:r>
            <a:r>
              <a:rPr lang="es-AR" sz="2400" dirty="0"/>
              <a:t>" y ver todo el tráfico.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sz="2400" dirty="0"/>
              <a:t>VLAN </a:t>
            </a:r>
            <a:r>
              <a:rPr lang="es-AR" sz="2400" dirty="0" err="1"/>
              <a:t>Hopping</a:t>
            </a:r>
            <a:r>
              <a:rPr lang="es-AR" sz="2400" dirty="0"/>
              <a:t>: Saltar entre </a:t>
            </a:r>
            <a:r>
              <a:rPr lang="es-AR" sz="2400" dirty="0" err="1"/>
              <a:t>VLANs</a:t>
            </a:r>
            <a:r>
              <a:rPr lang="es-AR" sz="2400" dirty="0"/>
              <a:t> para acceder a segmentos de red restringidos.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sz="2400" dirty="0"/>
              <a:t>ataques a STP (</a:t>
            </a:r>
            <a:r>
              <a:rPr lang="es-AR" sz="2400" dirty="0" err="1"/>
              <a:t>Spanning</a:t>
            </a:r>
            <a:r>
              <a:rPr lang="es-AR" sz="2400" dirty="0"/>
              <a:t> </a:t>
            </a:r>
            <a:r>
              <a:rPr lang="es-AR" sz="2400" dirty="0" err="1"/>
              <a:t>Tree</a:t>
            </a:r>
            <a:r>
              <a:rPr lang="es-AR" sz="2400" dirty="0"/>
              <a:t> </a:t>
            </a:r>
            <a:r>
              <a:rPr lang="es-AR" sz="2400" dirty="0" err="1"/>
              <a:t>Protocol</a:t>
            </a:r>
            <a:r>
              <a:rPr lang="es-AR" sz="2400" dirty="0"/>
              <a:t>): Manipulación del protocolo para redirigir tráfico.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sz="2400" dirty="0" err="1"/>
              <a:t>Spoofing</a:t>
            </a:r>
            <a:r>
              <a:rPr lang="es-AR" sz="2400" dirty="0"/>
              <a:t> de Direcciones MAC: Suplantación de identidad para evadir filtros.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sz="2400" dirty="0" err="1"/>
              <a:t>Rogue</a:t>
            </a:r>
            <a:r>
              <a:rPr lang="es-AR" sz="2400" dirty="0"/>
              <a:t> Access </a:t>
            </a:r>
            <a:r>
              <a:rPr lang="es-AR" sz="2400" dirty="0" err="1"/>
              <a:t>Points</a:t>
            </a:r>
            <a:r>
              <a:rPr lang="es-AR" sz="2400" dirty="0"/>
              <a:t>: Puntos de acceso </a:t>
            </a:r>
            <a:r>
              <a:rPr lang="es-AR" sz="2400" dirty="0" err="1"/>
              <a:t>Wi</a:t>
            </a:r>
            <a:r>
              <a:rPr lang="es-AR" sz="2400" dirty="0"/>
              <a:t>-Fi falsos para interceptar conexiones.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Ejemplo de Ataque: Un atacante en la misma LAN envenena la tabla ARP para interceptar el tráfico hacia el </a:t>
            </a:r>
            <a:r>
              <a:rPr lang="es-AR" sz="2400" dirty="0" err="1"/>
              <a:t>gateway</a:t>
            </a:r>
            <a:r>
              <a:rPr lang="es-AR" sz="2400" dirty="0"/>
              <a:t>.</a:t>
            </a:r>
          </a:p>
          <a:p>
            <a:pPr marL="1066785" lvl="1" indent="-457200">
              <a:lnSpc>
                <a:spcPct val="100000"/>
              </a:lnSpc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s-AR" b="1" dirty="0">
                <a:solidFill>
                  <a:srgbClr val="674EA7"/>
                </a:solidFill>
              </a:rPr>
              <a:t>Capa 2: Enlace de Datos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0674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Direccionamiento lógico (IP), enrutamiento de paquetes entre redes.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Amenazas / Vulnerabilidades Comunes: 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IP </a:t>
            </a:r>
            <a:r>
              <a:rPr lang="es-AR" sz="2400" dirty="0" err="1"/>
              <a:t>Spoofing</a:t>
            </a:r>
            <a:r>
              <a:rPr lang="es-AR" sz="2400" dirty="0"/>
              <a:t>: Suplantación de direcciones IP para ocultar el origen de un ataque.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Denegación de Servicio (DoS/</a:t>
            </a:r>
            <a:r>
              <a:rPr lang="es-AR" sz="2400" dirty="0" err="1"/>
              <a:t>DDoS</a:t>
            </a:r>
            <a:r>
              <a:rPr lang="es-AR" sz="2400" dirty="0"/>
              <a:t>): Inundar una red con tráfico ilegítimo para agotar recursos.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Ataques de Enrutamiento: Manipulación de protocolos de enrutamiento (OSPF, BGP) para redirigir tráfico o crear bucles.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Escaneo de Puertos / Redes: Identificar puertos abiertos y servicios vulnerables.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Fragmentación de Paquetes: Enviar paquetes fragmentados para evadir firewalls.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ICMP </a:t>
            </a:r>
            <a:r>
              <a:rPr lang="es-AR" sz="2400" dirty="0" err="1"/>
              <a:t>Flood</a:t>
            </a:r>
            <a:r>
              <a:rPr lang="es-AR" sz="2400" dirty="0"/>
              <a:t>: Inundar con solicitudes ICMP (ping) para DoS.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Malas Configuraciones de Firewalls/</a:t>
            </a:r>
            <a:r>
              <a:rPr lang="es-AR" sz="2400" dirty="0" err="1"/>
              <a:t>ACLs</a:t>
            </a:r>
            <a:r>
              <a:rPr lang="es-AR" sz="2400" dirty="0"/>
              <a:t>: Reglas permisivas que exponen servicios.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Ejemplo de Ataque: Un ataque </a:t>
            </a:r>
            <a:r>
              <a:rPr lang="es-AR" sz="2400" dirty="0" err="1"/>
              <a:t>DDoS</a:t>
            </a:r>
            <a:r>
              <a:rPr lang="es-AR" sz="2400" dirty="0"/>
              <a:t> que satura el ancho de banda de un servidor web.</a:t>
            </a:r>
          </a:p>
          <a:p>
            <a:pPr marL="1066785" lvl="1" indent="-457200">
              <a:lnSpc>
                <a:spcPct val="100000"/>
              </a:lnSpc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s-AR" b="1" dirty="0">
                <a:solidFill>
                  <a:srgbClr val="674EA7"/>
                </a:solidFill>
              </a:rPr>
              <a:t>Capa 3: Red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988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Conexión de extremo a extremo, fiabilidad de la entrega (TCP) o rapidez (UDP).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SYN </a:t>
            </a:r>
            <a:r>
              <a:rPr lang="es-AR" sz="2400" dirty="0" err="1"/>
              <a:t>Flood</a:t>
            </a:r>
            <a:r>
              <a:rPr lang="es-AR" sz="2400" dirty="0"/>
              <a:t>: Inundar un servidor con solicitudes de conexión TCP (SYN) sin completar el </a:t>
            </a:r>
            <a:r>
              <a:rPr lang="es-AR" sz="2400" dirty="0" err="1"/>
              <a:t>handshake</a:t>
            </a:r>
            <a:r>
              <a:rPr lang="es-AR" sz="2400" dirty="0"/>
              <a:t>, agotando recursos.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 err="1"/>
              <a:t>Session</a:t>
            </a:r>
            <a:r>
              <a:rPr lang="es-AR" sz="2400" dirty="0"/>
              <a:t> </a:t>
            </a:r>
            <a:r>
              <a:rPr lang="es-AR" sz="2400" dirty="0" err="1"/>
              <a:t>Hijacking</a:t>
            </a:r>
            <a:r>
              <a:rPr lang="es-AR" sz="2400" dirty="0"/>
              <a:t> (Secuestro de Sesión): Tomar el control de una sesión TCP/IP ya establecida.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Port </a:t>
            </a:r>
            <a:r>
              <a:rPr lang="es-AR" sz="2400" dirty="0" err="1"/>
              <a:t>Scanning</a:t>
            </a:r>
            <a:r>
              <a:rPr lang="es-AR" sz="2400" dirty="0"/>
              <a:t> Avanzado: Identificar no solo puertos abiertos, sino el estado de los servicios.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Ataques a Protocolos de Transporte: Explotación de vulnerabilidades en TCP, UDP.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Conexiones Inseguras: Uso de HTTP sin TLS/SSL para datos sensibles.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Ataques de Replay: Reenviar paquetes legítimos interceptados para engañar a un sistema.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Ejemplo: Un atacante secuestra la sesión de un usuario bancario, autenticándose sin credenciales.</a:t>
            </a:r>
          </a:p>
          <a:p>
            <a:pPr marL="1066785" lvl="1" indent="-457200">
              <a:lnSpc>
                <a:spcPct val="100000"/>
              </a:lnSpc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s-AR" b="1" dirty="0">
                <a:solidFill>
                  <a:srgbClr val="674EA7"/>
                </a:solidFill>
              </a:rPr>
              <a:t>Capa 4: Transporte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951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Establecer, gestionar y terminar sesiones entre aplicaciones.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 err="1"/>
              <a:t>Session</a:t>
            </a:r>
            <a:r>
              <a:rPr lang="es-AR" sz="2400" dirty="0"/>
              <a:t> </a:t>
            </a:r>
            <a:r>
              <a:rPr lang="es-AR" sz="2400" dirty="0" err="1"/>
              <a:t>Fixation</a:t>
            </a:r>
            <a:r>
              <a:rPr lang="es-AR" sz="2400" dirty="0"/>
              <a:t>: Forzar a un usuario a utilizar un ID de sesión predefinido para secuestrar la sesión.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 err="1"/>
              <a:t>Session</a:t>
            </a:r>
            <a:r>
              <a:rPr lang="es-AR" sz="2400" dirty="0"/>
              <a:t> </a:t>
            </a:r>
            <a:r>
              <a:rPr lang="es-AR" sz="2400" dirty="0" err="1"/>
              <a:t>Prediction</a:t>
            </a:r>
            <a:r>
              <a:rPr lang="es-AR" sz="2400" dirty="0"/>
              <a:t>: Predecir </a:t>
            </a:r>
            <a:r>
              <a:rPr lang="es-AR" sz="2400" dirty="0" err="1"/>
              <a:t>IDs</a:t>
            </a:r>
            <a:r>
              <a:rPr lang="es-AR" sz="2400" dirty="0"/>
              <a:t> de sesión para tomar el control.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Gestión Insegura de Sesiones: </a:t>
            </a:r>
            <a:r>
              <a:rPr lang="es-AR" sz="2400" dirty="0" err="1"/>
              <a:t>IDs</a:t>
            </a:r>
            <a:r>
              <a:rPr lang="es-AR" sz="2400" dirty="0"/>
              <a:t> de sesión débiles, tiempo de vida excesivo, no invalidación al cerrar sesión.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Cross-</a:t>
            </a:r>
            <a:r>
              <a:rPr lang="es-AR" sz="2400" dirty="0" err="1"/>
              <a:t>Site</a:t>
            </a:r>
            <a:r>
              <a:rPr lang="es-AR" sz="2400" dirty="0"/>
              <a:t> </a:t>
            </a:r>
            <a:r>
              <a:rPr lang="es-AR" sz="2400" dirty="0" err="1"/>
              <a:t>Request</a:t>
            </a:r>
            <a:r>
              <a:rPr lang="es-AR" sz="2400" dirty="0"/>
              <a:t> </a:t>
            </a:r>
            <a:r>
              <a:rPr lang="es-AR" sz="2400" dirty="0" err="1"/>
              <a:t>Forgery</a:t>
            </a:r>
            <a:r>
              <a:rPr lang="es-AR" sz="2400" dirty="0"/>
              <a:t> (CSRF): Engañar al navegador de un usuario autenticado para que realice una acción no deseada.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Ataques de Credenciales Débiles: </a:t>
            </a:r>
            <a:r>
              <a:rPr lang="es-AR" sz="2400" dirty="0" err="1"/>
              <a:t>Brute</a:t>
            </a:r>
            <a:r>
              <a:rPr lang="es-AR" sz="2400" dirty="0"/>
              <a:t> </a:t>
            </a:r>
            <a:r>
              <a:rPr lang="es-AR" sz="2400" dirty="0" err="1"/>
              <a:t>force</a:t>
            </a:r>
            <a:r>
              <a:rPr lang="es-AR" sz="2400" dirty="0"/>
              <a:t> o diccionario contra mecanismos de autenticación de sesión.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Ejemplo de Ataque: CSRF donde un usuario hace clic en un enlace malicioso que, sin saberlo, envía una transferencia bancaria desde su cuenta.</a:t>
            </a:r>
          </a:p>
          <a:p>
            <a:pPr marL="1066785" lvl="1" indent="-457200">
              <a:lnSpc>
                <a:spcPct val="100000"/>
              </a:lnSpc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s-AR" b="1" dirty="0">
                <a:solidFill>
                  <a:srgbClr val="674EA7"/>
                </a:solidFill>
              </a:rPr>
              <a:t>Capa 5: </a:t>
            </a:r>
            <a:r>
              <a:rPr lang="es-AR" b="1" dirty="0" err="1">
                <a:solidFill>
                  <a:srgbClr val="674EA7"/>
                </a:solidFill>
              </a:rPr>
              <a:t>Sesion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97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Traducción, cifrado/descifrado, compresión/descompresión de datos.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Fallas Criptográficas (</a:t>
            </a:r>
            <a:r>
              <a:rPr lang="es-AR" sz="2400" dirty="0" err="1"/>
              <a:t>Insecure</a:t>
            </a:r>
            <a:r>
              <a:rPr lang="es-AR" sz="2400" dirty="0"/>
              <a:t> </a:t>
            </a:r>
            <a:r>
              <a:rPr lang="es-AR" sz="2400" dirty="0" err="1"/>
              <a:t>Cryptographic</a:t>
            </a:r>
            <a:r>
              <a:rPr lang="es-AR" sz="2400" dirty="0"/>
              <a:t> Storage / </a:t>
            </a:r>
            <a:r>
              <a:rPr lang="es-AR" sz="2400" dirty="0" err="1"/>
              <a:t>Failures</a:t>
            </a:r>
            <a:r>
              <a:rPr lang="es-AR" sz="2400" dirty="0"/>
              <a:t>): Uso de algoritmos débiles, claves inseguras, almacenamiento sin cifrar de datos sensibles.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Exposición de Datos Sensibles: Datos no cifrados o mal protegidos en tránsito o en reposo.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Ataques a TLS/SSL (ej. HEARTBLEED, DROWN, POODLE): Explotación de vulnerabilidades en el cifrado de comunicaciones.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Manipulación de Datos (Integridad): Alteración de datos durante la transmisión o presentación.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400" dirty="0"/>
              <a:t>Falta de Sanitización de Datos: No validar o sanear datos antes de procesarlos/presentarlos (ej. XSS en contenido cifrado/descomprimido).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Ejemplo: Un sitio web almacena contraseñas sin cifrar, exponiéndolas a una brecha de datos.</a:t>
            </a:r>
          </a:p>
          <a:p>
            <a:pPr marL="1066785" lvl="1" indent="-457200">
              <a:lnSpc>
                <a:spcPct val="100000"/>
              </a:lnSpc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s-AR" b="1" dirty="0">
                <a:solidFill>
                  <a:srgbClr val="674EA7"/>
                </a:solidFill>
              </a:rPr>
              <a:t>Capa 6: </a:t>
            </a:r>
            <a:r>
              <a:rPr lang="es-AR" b="1" dirty="0" err="1">
                <a:solidFill>
                  <a:srgbClr val="674EA7"/>
                </a:solidFill>
              </a:rPr>
              <a:t>Presentacion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107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200" dirty="0"/>
              <a:t>Proporciona servicios de red a las aplicaciones del usuario (HTTP, FTP, SMTP, DNS, etc.).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200" dirty="0"/>
              <a:t>Inyección (SQL, NoSQL, OS </a:t>
            </a:r>
            <a:r>
              <a:rPr lang="es-AR" sz="2200" dirty="0" err="1"/>
              <a:t>Command</a:t>
            </a:r>
            <a:r>
              <a:rPr lang="es-AR" sz="2200" dirty="0"/>
              <a:t>): Inserción de código malicioso en entradas de usuario.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200" dirty="0" err="1"/>
              <a:t>Broken</a:t>
            </a:r>
            <a:r>
              <a:rPr lang="es-AR" sz="2200" dirty="0"/>
              <a:t> Access Control: Fallas en la autorización, permisos insuficientes o excesivos.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200" dirty="0" err="1"/>
              <a:t>Broken</a:t>
            </a:r>
            <a:r>
              <a:rPr lang="es-AR" sz="2200" dirty="0"/>
              <a:t> </a:t>
            </a:r>
            <a:r>
              <a:rPr lang="es-AR" sz="2200" dirty="0" err="1"/>
              <a:t>Authentication</a:t>
            </a:r>
            <a:r>
              <a:rPr lang="es-AR" sz="2200" dirty="0"/>
              <a:t>: Fallas en la gestión de credenciales y sesiones.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200" dirty="0"/>
              <a:t>Cross-</a:t>
            </a:r>
            <a:r>
              <a:rPr lang="es-AR" sz="2200" dirty="0" err="1"/>
              <a:t>Site</a:t>
            </a:r>
            <a:r>
              <a:rPr lang="es-AR" sz="2200" dirty="0"/>
              <a:t> Scripting (XSS): Inyección de scripts maliciosos en páginas web vistas por otros usuarios.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200" dirty="0" err="1"/>
              <a:t>Insecure</a:t>
            </a:r>
            <a:r>
              <a:rPr lang="es-AR" sz="2200" dirty="0"/>
              <a:t> </a:t>
            </a:r>
            <a:r>
              <a:rPr lang="es-AR" sz="2200" dirty="0" err="1"/>
              <a:t>Design</a:t>
            </a:r>
            <a:r>
              <a:rPr lang="es-AR" sz="2200" dirty="0"/>
              <a:t>: Fallas de diseño fundamentales que llevan a vulnerabilidades.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200" dirty="0"/>
              <a:t>Security </a:t>
            </a:r>
            <a:r>
              <a:rPr lang="es-AR" sz="2200" dirty="0" err="1"/>
              <a:t>Misconfiguration</a:t>
            </a:r>
            <a:r>
              <a:rPr lang="es-AR" sz="2200" dirty="0"/>
              <a:t>: Configuraciones inseguras por defecto o no actualizadas.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200" dirty="0" err="1"/>
              <a:t>Deserialization</a:t>
            </a:r>
            <a:r>
              <a:rPr lang="es-AR" sz="2200" dirty="0"/>
              <a:t> </a:t>
            </a:r>
            <a:r>
              <a:rPr lang="es-AR" sz="2200" dirty="0" err="1"/>
              <a:t>Insecure</a:t>
            </a:r>
            <a:r>
              <a:rPr lang="es-AR" sz="2200" dirty="0"/>
              <a:t>: Manipulación de objetos serializados para ejecutar código.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200" dirty="0"/>
              <a:t>Server-</a:t>
            </a:r>
            <a:r>
              <a:rPr lang="es-AR" sz="2200" dirty="0" err="1"/>
              <a:t>Side</a:t>
            </a:r>
            <a:r>
              <a:rPr lang="es-AR" sz="2200" dirty="0"/>
              <a:t> </a:t>
            </a:r>
            <a:r>
              <a:rPr lang="es-AR" sz="2200" dirty="0" err="1"/>
              <a:t>Request</a:t>
            </a:r>
            <a:r>
              <a:rPr lang="es-AR" sz="2200" dirty="0"/>
              <a:t> </a:t>
            </a:r>
            <a:r>
              <a:rPr lang="es-AR" sz="2200" dirty="0" err="1"/>
              <a:t>Forgery</a:t>
            </a:r>
            <a:r>
              <a:rPr lang="es-AR" sz="2200" dirty="0"/>
              <a:t> (SSRF): Forzar al servidor a realizar peticiones arbitrarias.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200" dirty="0"/>
              <a:t>Uso de Componentes Vulnerables: Librerías o </a:t>
            </a:r>
            <a:r>
              <a:rPr lang="es-AR" sz="2200" dirty="0" err="1"/>
              <a:t>frameworks</a:t>
            </a:r>
            <a:r>
              <a:rPr lang="es-AR" sz="2200" dirty="0"/>
              <a:t> con vulnerabilidades conocidas.</a:t>
            </a:r>
          </a:p>
          <a:p>
            <a:pPr marL="342900" indent="-342900" algn="l">
              <a:lnSpc>
                <a:spcPct val="100000"/>
              </a:lnSpc>
            </a:pPr>
            <a:r>
              <a:rPr lang="es-AR" sz="2200" dirty="0"/>
              <a:t>Lógica de Negocio </a:t>
            </a:r>
            <a:r>
              <a:rPr lang="es-AR" sz="2200" dirty="0" err="1"/>
              <a:t>Flawed</a:t>
            </a:r>
            <a:r>
              <a:rPr lang="es-AR" sz="2200" dirty="0"/>
              <a:t>: Errores en la implementación de la lógica de negocio que pueden ser explotados.</a:t>
            </a:r>
          </a:p>
          <a:p>
            <a:pPr marL="0" indent="0" algn="l">
              <a:lnSpc>
                <a:spcPct val="100000"/>
              </a:lnSpc>
              <a:buNone/>
            </a:pPr>
            <a:endParaRPr lang="es-AR" sz="2400" dirty="0"/>
          </a:p>
          <a:p>
            <a:pPr marL="1066785" lvl="1" indent="-457200">
              <a:lnSpc>
                <a:spcPct val="100000"/>
              </a:lnSpc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s-AR" b="1" dirty="0">
                <a:solidFill>
                  <a:srgbClr val="674EA7"/>
                </a:solidFill>
              </a:rPr>
              <a:t>Capa 7: Aplicación (se relevan en OWASP)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956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Open Web </a:t>
            </a:r>
            <a:r>
              <a:rPr lang="es-AR" dirty="0" err="1"/>
              <a:t>Application</a:t>
            </a:r>
            <a:r>
              <a:rPr lang="es-AR" dirty="0"/>
              <a:t> Security Project:  Comunidad global sin fines de lucro enfocada en mejorar la seguridad del software. Provee recursos, herramientas y metodologías abiertas y gratuitas. Analiza los principales riesgos para desarrollo web, móvil, </a:t>
            </a:r>
            <a:r>
              <a:rPr lang="es-AR" dirty="0" err="1"/>
              <a:t>APIs</a:t>
            </a:r>
            <a:r>
              <a:rPr lang="es-AR" dirty="0"/>
              <a:t>, </a:t>
            </a:r>
            <a:r>
              <a:rPr lang="es-AR" dirty="0" err="1"/>
              <a:t>LLMs</a:t>
            </a:r>
            <a:r>
              <a:rPr lang="es-AR" dirty="0"/>
              <a:t>, </a:t>
            </a:r>
            <a:r>
              <a:rPr lang="es-AR" dirty="0" err="1"/>
              <a:t>Blockchain</a:t>
            </a:r>
            <a:r>
              <a:rPr lang="es-AR" dirty="0"/>
              <a:t>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/>
              <a:t>La Importancia de OWASP: </a:t>
            </a:r>
          </a:p>
          <a:p>
            <a:pPr marL="1066785" lvl="1" indent="-457200">
              <a:lnSpc>
                <a:spcPct val="100000"/>
              </a:lnSpc>
            </a:pPr>
            <a:r>
              <a:rPr lang="es-AR" dirty="0"/>
              <a:t>Estándar de la Industria: Referencia clave para desarrolladores y profesionales de seguridad.</a:t>
            </a:r>
          </a:p>
          <a:p>
            <a:pPr marL="1066785" lvl="1" indent="-457200">
              <a:lnSpc>
                <a:spcPct val="100000"/>
              </a:lnSpc>
            </a:pPr>
            <a:r>
              <a:rPr lang="es-AR" dirty="0"/>
              <a:t>Concientización: Ayuda a entender y mitigar los riesgos más críticos.</a:t>
            </a:r>
          </a:p>
          <a:p>
            <a:pPr marL="1066785" lvl="1" indent="-457200">
              <a:lnSpc>
                <a:spcPct val="100000"/>
              </a:lnSpc>
            </a:pPr>
            <a:r>
              <a:rPr lang="es-AR" dirty="0"/>
              <a:t>Evolución Constante: Sus listas y proyectos se actualizan para reflejar nuevas amenazas.</a:t>
            </a:r>
          </a:p>
          <a:p>
            <a:pPr marL="1066785" lvl="1" indent="-457200">
              <a:lnSpc>
                <a:spcPct val="100000"/>
              </a:lnSpc>
            </a:pPr>
            <a:r>
              <a:rPr lang="es-AR" dirty="0"/>
              <a:t>Enfoque Práctico: Guías accionables para prevenir vulnerabilidades.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s-AR" b="1" dirty="0">
                <a:solidFill>
                  <a:srgbClr val="674EA7"/>
                </a:solidFill>
              </a:rPr>
              <a:t>¿Qué es OWASP? 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234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b="1" dirty="0"/>
              <a:t>Aplicables a todos los ámbitos de desarrollo: </a:t>
            </a:r>
          </a:p>
          <a:p>
            <a:pPr marL="0" indent="0" algn="l">
              <a:lnSpc>
                <a:spcPct val="100000"/>
              </a:lnSpc>
              <a:buNone/>
            </a:pPr>
            <a:endParaRPr lang="es-AR" b="1" dirty="0"/>
          </a:p>
          <a:p>
            <a:pPr marL="457200" indent="-457200" algn="l">
              <a:lnSpc>
                <a:spcPct val="100000"/>
              </a:lnSpc>
            </a:pPr>
            <a:r>
              <a:rPr lang="es-AR" dirty="0" err="1"/>
              <a:t>Least</a:t>
            </a:r>
            <a:r>
              <a:rPr lang="es-AR" dirty="0"/>
              <a:t> </a:t>
            </a:r>
            <a:r>
              <a:rPr lang="es-AR" dirty="0" err="1"/>
              <a:t>Privilege</a:t>
            </a:r>
            <a:r>
              <a:rPr lang="es-AR" dirty="0"/>
              <a:t> (Principio del Menor Privilegio): Otorgar solo los permisos necesarios.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 err="1"/>
              <a:t>Defense</a:t>
            </a:r>
            <a:r>
              <a:rPr lang="es-AR" dirty="0"/>
              <a:t> in Depth (Defensa en Profundidad): Múltiples capas de seguridad.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 err="1"/>
              <a:t>Secure</a:t>
            </a:r>
            <a:r>
              <a:rPr lang="es-AR" dirty="0"/>
              <a:t> </a:t>
            </a:r>
            <a:r>
              <a:rPr lang="es-AR" dirty="0" err="1"/>
              <a:t>by</a:t>
            </a:r>
            <a:r>
              <a:rPr lang="es-AR" dirty="0"/>
              <a:t> </a:t>
            </a:r>
            <a:r>
              <a:rPr lang="es-AR" dirty="0" err="1"/>
              <a:t>Design</a:t>
            </a:r>
            <a:r>
              <a:rPr lang="es-AR" dirty="0"/>
              <a:t>: Integrar la seguridad desde las etapas iniciales del diseño.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 err="1"/>
              <a:t>Fail</a:t>
            </a:r>
            <a:r>
              <a:rPr lang="es-AR" dirty="0"/>
              <a:t> </a:t>
            </a:r>
            <a:r>
              <a:rPr lang="es-AR" dirty="0" err="1"/>
              <a:t>Securely</a:t>
            </a:r>
            <a:r>
              <a:rPr lang="es-AR" dirty="0"/>
              <a:t>: En caso de fallo, el sistema debe caer en un estado seguro.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 err="1">
                <a:solidFill>
                  <a:srgbClr val="674EA7"/>
                </a:solidFill>
              </a:rPr>
              <a:t>Principios</a:t>
            </a:r>
            <a:r>
              <a:rPr lang="en-US" b="1" dirty="0">
                <a:solidFill>
                  <a:srgbClr val="674EA7"/>
                </a:solidFill>
              </a:rPr>
              <a:t> </a:t>
            </a:r>
            <a:r>
              <a:rPr lang="en-US" b="1" dirty="0" err="1">
                <a:solidFill>
                  <a:srgbClr val="674EA7"/>
                </a:solidFill>
              </a:rPr>
              <a:t>Transversales</a:t>
            </a:r>
            <a:r>
              <a:rPr lang="en-US" b="1" dirty="0">
                <a:solidFill>
                  <a:srgbClr val="674EA7"/>
                </a:solidFill>
              </a:rPr>
              <a:t> de </a:t>
            </a:r>
            <a:r>
              <a:rPr lang="en-US" b="1" dirty="0" err="1">
                <a:solidFill>
                  <a:srgbClr val="674EA7"/>
                </a:solidFill>
              </a:rPr>
              <a:t>Seguridad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402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457200" indent="-457200" algn="l">
              <a:lnSpc>
                <a:spcPct val="100000"/>
              </a:lnSpc>
            </a:pPr>
            <a:r>
              <a:rPr lang="es-AR" dirty="0"/>
              <a:t>Principio de Confianza Cero (Zero Trust): No confiar en nada, verificar todo.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/>
              <a:t>Validación de Entradas: Nunca confiar en los datos de entrada del usuario.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/>
              <a:t>Actualizaciones y Parches: Mantener el software y componentes actualizados.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/>
              <a:t>Monitoreo y </a:t>
            </a:r>
            <a:r>
              <a:rPr lang="es-AR" dirty="0" err="1"/>
              <a:t>Logging</a:t>
            </a:r>
            <a:r>
              <a:rPr lang="es-AR" dirty="0"/>
              <a:t>: Registrar y supervisar eventos de seguridad.</a:t>
            </a:r>
          </a:p>
          <a:p>
            <a:pPr marL="457200" indent="-457200" algn="l">
              <a:lnSpc>
                <a:spcPct val="100000"/>
              </a:lnSpc>
            </a:pPr>
            <a:r>
              <a:rPr lang="es-AR" dirty="0"/>
              <a:t>Auditorías y Pruebas de Penetración: Evaluar regularmente la seguridad.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 err="1">
                <a:solidFill>
                  <a:srgbClr val="674EA7"/>
                </a:solidFill>
              </a:rPr>
              <a:t>Principios</a:t>
            </a:r>
            <a:r>
              <a:rPr lang="en-US" b="1" dirty="0">
                <a:solidFill>
                  <a:srgbClr val="674EA7"/>
                </a:solidFill>
              </a:rPr>
              <a:t> </a:t>
            </a:r>
            <a:r>
              <a:rPr lang="en-US" b="1" dirty="0" err="1">
                <a:solidFill>
                  <a:srgbClr val="674EA7"/>
                </a:solidFill>
              </a:rPr>
              <a:t>Transversales</a:t>
            </a:r>
            <a:r>
              <a:rPr lang="en-US" b="1" dirty="0">
                <a:solidFill>
                  <a:srgbClr val="674EA7"/>
                </a:solidFill>
              </a:rPr>
              <a:t> de </a:t>
            </a:r>
            <a:r>
              <a:rPr lang="en-US" b="1" dirty="0" err="1">
                <a:solidFill>
                  <a:srgbClr val="674EA7"/>
                </a:solidFill>
              </a:rPr>
              <a:t>Seguridad</a:t>
            </a:r>
            <a:r>
              <a:rPr lang="en-US" b="1" dirty="0">
                <a:solidFill>
                  <a:srgbClr val="674EA7"/>
                </a:solidFill>
              </a:rPr>
              <a:t> (cont.)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041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A01 Broken Access Control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A02 Security Misconfiguration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A03 Software Supply Chain Failures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A04 Cryptographic Failures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A05 Injection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A06 Insecure Design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A07 Authentication Failures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A08 Software or Data Integrity Failures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A09 Logging and Alerting Failures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dirty="0"/>
              <a:t>A10 Mishandling of Exceptional Conditions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>
                <a:solidFill>
                  <a:srgbClr val="674EA7"/>
                </a:solidFill>
              </a:rPr>
              <a:t>Top 10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5308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b="1" dirty="0"/>
              <a:t>EJES PRINCIPALES</a:t>
            </a:r>
            <a:br>
              <a:rPr lang="es-AR" dirty="0"/>
            </a:br>
            <a:r>
              <a:rPr lang="es-AR" dirty="0"/>
              <a:t>A01:2021 - </a:t>
            </a:r>
            <a:r>
              <a:rPr lang="es-AR" dirty="0" err="1"/>
              <a:t>Broken</a:t>
            </a:r>
            <a:r>
              <a:rPr lang="es-AR" dirty="0"/>
              <a:t> Access Control: Errores en la gestión de permisos.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A02:2021 - </a:t>
            </a:r>
            <a:r>
              <a:rPr lang="es-AR" dirty="0" err="1"/>
              <a:t>Cryptographic</a:t>
            </a:r>
            <a:r>
              <a:rPr lang="es-AR" dirty="0"/>
              <a:t> </a:t>
            </a:r>
            <a:r>
              <a:rPr lang="es-AR" dirty="0" err="1"/>
              <a:t>Failures</a:t>
            </a:r>
            <a:r>
              <a:rPr lang="es-AR" dirty="0"/>
              <a:t>: Fallos en la encriptación de datos sensibles.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A03:2021 - </a:t>
            </a:r>
            <a:r>
              <a:rPr lang="es-AR" dirty="0" err="1"/>
              <a:t>Injection</a:t>
            </a:r>
            <a:r>
              <a:rPr lang="es-AR" dirty="0"/>
              <a:t>: Inyección de código (SQL, NoSQL, OS </a:t>
            </a:r>
            <a:r>
              <a:rPr lang="es-AR" dirty="0" err="1"/>
              <a:t>Command</a:t>
            </a:r>
            <a:r>
              <a:rPr lang="es-AR" dirty="0"/>
              <a:t>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A04:2021 - </a:t>
            </a:r>
            <a:r>
              <a:rPr lang="es-AR" dirty="0" err="1"/>
              <a:t>Insecure</a:t>
            </a:r>
            <a:r>
              <a:rPr lang="es-AR" dirty="0"/>
              <a:t> </a:t>
            </a:r>
            <a:r>
              <a:rPr lang="es-AR" dirty="0" err="1"/>
              <a:t>Design</a:t>
            </a:r>
            <a:r>
              <a:rPr lang="es-AR" dirty="0"/>
              <a:t>: Fallas de diseño que abren la puerta a vulnerabilidades.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A05:2021 - Security </a:t>
            </a:r>
            <a:r>
              <a:rPr lang="es-AR" dirty="0" err="1"/>
              <a:t>Misconfiguration</a:t>
            </a:r>
            <a:r>
              <a:rPr lang="es-AR" dirty="0"/>
              <a:t>: Configuraciones de seguridad incorrectas o por defecto.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solidFill>
                  <a:srgbClr val="674EA7"/>
                </a:solidFill>
              </a:rPr>
              <a:t>Top 10 Web Application Security Risks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8994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A06:2021 - Vulnerable and </a:t>
            </a:r>
            <a:r>
              <a:rPr lang="es-AR" dirty="0" err="1"/>
              <a:t>Outdated</a:t>
            </a:r>
            <a:r>
              <a:rPr lang="es-AR" dirty="0"/>
              <a:t> </a:t>
            </a:r>
            <a:r>
              <a:rPr lang="es-AR" dirty="0" err="1"/>
              <a:t>Components</a:t>
            </a:r>
            <a:r>
              <a:rPr lang="es-AR" dirty="0"/>
              <a:t>: Uso de librerías/componentes con vulnerabilidades conocidas.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A07:2021 - </a:t>
            </a:r>
            <a:r>
              <a:rPr lang="es-AR" dirty="0" err="1"/>
              <a:t>Identification</a:t>
            </a:r>
            <a:r>
              <a:rPr lang="es-AR" dirty="0"/>
              <a:t> and </a:t>
            </a:r>
            <a:r>
              <a:rPr lang="es-AR" dirty="0" err="1"/>
              <a:t>Authentication</a:t>
            </a:r>
            <a:r>
              <a:rPr lang="es-AR" dirty="0"/>
              <a:t> </a:t>
            </a:r>
            <a:r>
              <a:rPr lang="es-AR" dirty="0" err="1"/>
              <a:t>Failures</a:t>
            </a:r>
            <a:r>
              <a:rPr lang="es-AR" dirty="0"/>
              <a:t>: Fallas en la autenticación y gestión de sesiones.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A08:2021 - Software and Data </a:t>
            </a:r>
            <a:r>
              <a:rPr lang="es-AR" dirty="0" err="1"/>
              <a:t>Integrity</a:t>
            </a:r>
            <a:r>
              <a:rPr lang="es-AR" dirty="0"/>
              <a:t> </a:t>
            </a:r>
            <a:r>
              <a:rPr lang="es-AR" dirty="0" err="1"/>
              <a:t>Failures</a:t>
            </a:r>
            <a:r>
              <a:rPr lang="es-AR" dirty="0"/>
              <a:t>: Errores en la integridad del software y datos.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A09:2021 - Security </a:t>
            </a:r>
            <a:r>
              <a:rPr lang="es-AR" dirty="0" err="1"/>
              <a:t>Logging</a:t>
            </a:r>
            <a:r>
              <a:rPr lang="es-AR" dirty="0"/>
              <a:t> and </a:t>
            </a:r>
            <a:r>
              <a:rPr lang="es-AR" dirty="0" err="1"/>
              <a:t>Monitoring</a:t>
            </a:r>
            <a:r>
              <a:rPr lang="es-AR" dirty="0"/>
              <a:t> </a:t>
            </a:r>
            <a:r>
              <a:rPr lang="es-AR" dirty="0" err="1"/>
              <a:t>Failures</a:t>
            </a:r>
            <a:r>
              <a:rPr lang="es-AR" dirty="0"/>
              <a:t>: Falta de logs o monitoreo adecuado.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A10:2021 - Server-</a:t>
            </a:r>
            <a:r>
              <a:rPr lang="es-AR" dirty="0" err="1"/>
              <a:t>Side</a:t>
            </a:r>
            <a:r>
              <a:rPr lang="es-AR" dirty="0"/>
              <a:t> </a:t>
            </a:r>
            <a:r>
              <a:rPr lang="es-AR" dirty="0" err="1"/>
              <a:t>Request</a:t>
            </a:r>
            <a:r>
              <a:rPr lang="es-AR" dirty="0"/>
              <a:t> </a:t>
            </a:r>
            <a:r>
              <a:rPr lang="es-AR" dirty="0" err="1"/>
              <a:t>Forgery</a:t>
            </a:r>
            <a:r>
              <a:rPr lang="es-AR" dirty="0"/>
              <a:t> (SSRF): Un tipo de inyección que fuerza al servidor a hacer peticiones no autorizadas.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>
                <a:solidFill>
                  <a:srgbClr val="674EA7"/>
                </a:solidFill>
              </a:rPr>
              <a:t>Top 10 Web Application Security Risks (cont.)</a:t>
            </a:r>
            <a:endParaRPr b="1" dirty="0">
              <a:solidFill>
                <a:srgbClr val="674EA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5684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Mobile </a:t>
            </a:r>
            <a:r>
              <a:rPr lang="es-AR" dirty="0" err="1"/>
              <a:t>Application</a:t>
            </a:r>
            <a:r>
              <a:rPr lang="es-AR" dirty="0"/>
              <a:t> Security </a:t>
            </a:r>
            <a:r>
              <a:rPr lang="es-AR" dirty="0" err="1"/>
              <a:t>Verification</a:t>
            </a:r>
            <a:r>
              <a:rPr lang="es-AR" dirty="0"/>
              <a:t> Standard :Centrado en riesgos específicos del entorno móvil 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•	Ejes Principales: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M1: </a:t>
            </a:r>
            <a:r>
              <a:rPr lang="es-AR" dirty="0" err="1"/>
              <a:t>Improper</a:t>
            </a:r>
            <a:r>
              <a:rPr lang="es-AR" dirty="0"/>
              <a:t> </a:t>
            </a:r>
            <a:r>
              <a:rPr lang="es-AR" dirty="0" err="1"/>
              <a:t>Platform</a:t>
            </a:r>
            <a:r>
              <a:rPr lang="es-AR" dirty="0"/>
              <a:t> </a:t>
            </a:r>
            <a:r>
              <a:rPr lang="es-AR" dirty="0" err="1"/>
              <a:t>Usage</a:t>
            </a:r>
            <a:r>
              <a:rPr lang="es-AR" dirty="0"/>
              <a:t>: Uso incorrecto de funcionalidades de seguridad de la plataforma (Android/iOS).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M2: </a:t>
            </a:r>
            <a:r>
              <a:rPr lang="es-AR" dirty="0" err="1"/>
              <a:t>Insecure</a:t>
            </a:r>
            <a:r>
              <a:rPr lang="es-AR" dirty="0"/>
              <a:t> Data Storage: Almacenamiento inseguro de datos sensibles en el dispositivo.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M3: </a:t>
            </a:r>
            <a:r>
              <a:rPr lang="es-AR" dirty="0" err="1"/>
              <a:t>Insecure</a:t>
            </a:r>
            <a:r>
              <a:rPr lang="es-AR" dirty="0"/>
              <a:t> </a:t>
            </a:r>
            <a:r>
              <a:rPr lang="es-AR" dirty="0" err="1"/>
              <a:t>Communication</a:t>
            </a:r>
            <a:r>
              <a:rPr lang="es-AR" dirty="0"/>
              <a:t>: Comunicación no cifrada o mal protegida.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dirty="0"/>
              <a:t>M4: </a:t>
            </a:r>
            <a:r>
              <a:rPr lang="es-AR" dirty="0" err="1"/>
              <a:t>Insecure</a:t>
            </a:r>
            <a:r>
              <a:rPr lang="es-AR" dirty="0"/>
              <a:t> </a:t>
            </a:r>
            <a:r>
              <a:rPr lang="es-AR" dirty="0" err="1"/>
              <a:t>Authentication</a:t>
            </a:r>
            <a:r>
              <a:rPr lang="es-AR" dirty="0"/>
              <a:t>/</a:t>
            </a:r>
            <a:r>
              <a:rPr lang="es-AR" dirty="0" err="1"/>
              <a:t>Authorization</a:t>
            </a:r>
            <a:r>
              <a:rPr lang="es-AR" dirty="0"/>
              <a:t>: Fallas en los mecanismos de autenticación/autorización.</a:t>
            </a:r>
          </a:p>
          <a:p>
            <a:pPr marL="0" indent="0" algn="l">
              <a:lnSpc>
                <a:spcPct val="100000"/>
              </a:lnSpc>
              <a:buNone/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MASVS / Mobile Top 10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61854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M5: </a:t>
            </a:r>
            <a:r>
              <a:rPr lang="es-AR" sz="3000" dirty="0" err="1"/>
              <a:t>Insufficient</a:t>
            </a:r>
            <a:r>
              <a:rPr lang="es-AR" sz="3000" dirty="0"/>
              <a:t> </a:t>
            </a:r>
            <a:r>
              <a:rPr lang="es-AR" sz="3000" dirty="0" err="1"/>
              <a:t>Cryptography</a:t>
            </a:r>
            <a:r>
              <a:rPr lang="es-AR" sz="3000" dirty="0"/>
              <a:t>: Uso débil o incorrecto de criptografía.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M6: </a:t>
            </a:r>
            <a:r>
              <a:rPr lang="es-AR" sz="3000" dirty="0" err="1"/>
              <a:t>Insecure</a:t>
            </a:r>
            <a:r>
              <a:rPr lang="es-AR" sz="3000" dirty="0"/>
              <a:t> </a:t>
            </a:r>
            <a:r>
              <a:rPr lang="es-AR" sz="3000" dirty="0" err="1"/>
              <a:t>Code</a:t>
            </a:r>
            <a:r>
              <a:rPr lang="es-AR" sz="3000" dirty="0"/>
              <a:t>: Código vulnerable (ej. inyección, </a:t>
            </a:r>
            <a:r>
              <a:rPr lang="es-AR" sz="3000" dirty="0" err="1"/>
              <a:t>overflows</a:t>
            </a:r>
            <a:r>
              <a:rPr lang="es-AR" sz="3000" dirty="0"/>
              <a:t>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M7: </a:t>
            </a:r>
            <a:r>
              <a:rPr lang="es-AR" sz="3000" dirty="0" err="1"/>
              <a:t>Tampering</a:t>
            </a:r>
            <a:r>
              <a:rPr lang="es-AR" sz="3000" dirty="0"/>
              <a:t>: Dificultad para prevenir la alteración de la aplicación.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M8: Reverse </a:t>
            </a:r>
            <a:r>
              <a:rPr lang="es-AR" sz="3000" dirty="0" err="1"/>
              <a:t>Engineering</a:t>
            </a:r>
            <a:r>
              <a:rPr lang="es-AR" sz="3000" dirty="0"/>
              <a:t>: Facilidad para aplicar ingeniería inversa.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M9: </a:t>
            </a:r>
            <a:r>
              <a:rPr lang="es-AR" sz="3000" dirty="0" err="1"/>
              <a:t>Extraneous</a:t>
            </a:r>
            <a:r>
              <a:rPr lang="es-AR" sz="3000" dirty="0"/>
              <a:t> </a:t>
            </a:r>
            <a:r>
              <a:rPr lang="es-AR" sz="3000" dirty="0" err="1"/>
              <a:t>Functionality</a:t>
            </a:r>
            <a:r>
              <a:rPr lang="es-AR" sz="3000" dirty="0"/>
              <a:t>: Funcionalidad no necesaria o sensible expuesta.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3000" dirty="0"/>
              <a:t>M10: </a:t>
            </a:r>
            <a:r>
              <a:rPr lang="es-AR" sz="3000" dirty="0" err="1"/>
              <a:t>Lack</a:t>
            </a:r>
            <a:r>
              <a:rPr lang="es-AR" sz="3000" dirty="0"/>
              <a:t> </a:t>
            </a:r>
            <a:r>
              <a:rPr lang="es-AR" sz="3000" dirty="0" err="1"/>
              <a:t>of</a:t>
            </a:r>
            <a:r>
              <a:rPr lang="es-AR" sz="3000" dirty="0"/>
              <a:t> </a:t>
            </a:r>
            <a:r>
              <a:rPr lang="es-AR" sz="3000" dirty="0" err="1"/>
              <a:t>Binary</a:t>
            </a:r>
            <a:r>
              <a:rPr lang="es-AR" sz="3000" dirty="0"/>
              <a:t> </a:t>
            </a:r>
            <a:r>
              <a:rPr lang="es-AR" sz="3000" dirty="0" err="1"/>
              <a:t>Protections</a:t>
            </a:r>
            <a:r>
              <a:rPr lang="es-AR" sz="3000" dirty="0"/>
              <a:t>: Falta de protección del binario de la aplicación.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MASVS / Mobile Top 10 (cont.)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92808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Vulnerabilidades comunes en </a:t>
            </a:r>
            <a:r>
              <a:rPr lang="es-AR" sz="2400" dirty="0" err="1"/>
              <a:t>APIs</a:t>
            </a:r>
            <a:r>
              <a:rPr lang="es-AR" sz="2400" dirty="0"/>
              <a:t> REST, </a:t>
            </a:r>
            <a:r>
              <a:rPr lang="es-AR" sz="2400" dirty="0" err="1"/>
              <a:t>GraphQL</a:t>
            </a:r>
            <a:r>
              <a:rPr lang="es-AR" sz="2400" dirty="0"/>
              <a:t>, etc.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Las </a:t>
            </a:r>
            <a:r>
              <a:rPr lang="es-AR" sz="2400" dirty="0" err="1"/>
              <a:t>APIs</a:t>
            </a:r>
            <a:r>
              <a:rPr lang="es-AR" sz="2400" dirty="0"/>
              <a:t> son la "cara" de muchos servicios y un vector de ataque creciente.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dirty="0"/>
              <a:t> •	Ejes Principales: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API1:2023 - </a:t>
            </a:r>
            <a:r>
              <a:rPr lang="es-AR" sz="2400" b="1" dirty="0" err="1"/>
              <a:t>Broken</a:t>
            </a:r>
            <a:r>
              <a:rPr lang="es-AR" sz="2400" b="1" dirty="0"/>
              <a:t> </a:t>
            </a:r>
            <a:r>
              <a:rPr lang="es-AR" sz="2400" b="1" dirty="0" err="1"/>
              <a:t>Object</a:t>
            </a:r>
            <a:r>
              <a:rPr lang="es-AR" sz="2400" b="1" dirty="0"/>
              <a:t> </a:t>
            </a:r>
            <a:r>
              <a:rPr lang="es-AR" sz="2400" b="1" dirty="0" err="1"/>
              <a:t>Level</a:t>
            </a:r>
            <a:r>
              <a:rPr lang="es-AR" sz="2400" b="1" dirty="0"/>
              <a:t> </a:t>
            </a:r>
            <a:r>
              <a:rPr lang="es-AR" sz="2400" b="1" dirty="0" err="1"/>
              <a:t>Authorization</a:t>
            </a:r>
            <a:r>
              <a:rPr lang="es-AR" sz="2400" b="1" dirty="0"/>
              <a:t> (BOLA):</a:t>
            </a:r>
            <a:r>
              <a:rPr lang="es-AR" sz="2400" dirty="0"/>
              <a:t> No verificar si el usuario tiene permiso para acceder a un recurso específico.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API2:2023 - </a:t>
            </a:r>
            <a:r>
              <a:rPr lang="es-AR" sz="2400" b="1" dirty="0" err="1"/>
              <a:t>Broken</a:t>
            </a:r>
            <a:r>
              <a:rPr lang="es-AR" sz="2400" b="1" dirty="0"/>
              <a:t> </a:t>
            </a:r>
            <a:r>
              <a:rPr lang="es-AR" sz="2400" b="1" dirty="0" err="1"/>
              <a:t>Authentication</a:t>
            </a:r>
            <a:r>
              <a:rPr lang="es-AR" sz="2400" b="1" dirty="0"/>
              <a:t>:</a:t>
            </a:r>
            <a:r>
              <a:rPr lang="es-AR" sz="2400" dirty="0"/>
              <a:t> Fallas en la gestión de tokens, contraseñas, claves API.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API3:2023 - </a:t>
            </a:r>
            <a:r>
              <a:rPr lang="es-AR" sz="2400" b="1" dirty="0" err="1"/>
              <a:t>Broken</a:t>
            </a:r>
            <a:r>
              <a:rPr lang="es-AR" sz="2400" b="1" dirty="0"/>
              <a:t> </a:t>
            </a:r>
            <a:r>
              <a:rPr lang="es-AR" sz="2400" b="1" dirty="0" err="1"/>
              <a:t>Object</a:t>
            </a:r>
            <a:r>
              <a:rPr lang="es-AR" sz="2400" b="1" dirty="0"/>
              <a:t> </a:t>
            </a:r>
            <a:r>
              <a:rPr lang="es-AR" sz="2400" b="1" dirty="0" err="1"/>
              <a:t>Property</a:t>
            </a:r>
            <a:r>
              <a:rPr lang="es-AR" sz="2400" b="1" dirty="0"/>
              <a:t> </a:t>
            </a:r>
            <a:r>
              <a:rPr lang="es-AR" sz="2400" b="1" dirty="0" err="1"/>
              <a:t>Level</a:t>
            </a:r>
            <a:r>
              <a:rPr lang="es-AR" sz="2400" b="1" dirty="0"/>
              <a:t> </a:t>
            </a:r>
            <a:r>
              <a:rPr lang="es-AR" sz="2400" b="1" dirty="0" err="1"/>
              <a:t>Authorization</a:t>
            </a:r>
            <a:r>
              <a:rPr lang="es-AR" sz="2400" b="1" dirty="0"/>
              <a:t>:</a:t>
            </a:r>
            <a:r>
              <a:rPr lang="es-AR" sz="2400" dirty="0"/>
              <a:t> Autorización a nivel de propiedades de objetos, no solo objetos completos.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API4:2023 - </a:t>
            </a:r>
            <a:r>
              <a:rPr lang="es-AR" sz="2400" b="1" dirty="0" err="1"/>
              <a:t>Unrestricted</a:t>
            </a:r>
            <a:r>
              <a:rPr lang="es-AR" sz="2400" b="1" dirty="0"/>
              <a:t> </a:t>
            </a:r>
            <a:r>
              <a:rPr lang="es-AR" sz="2400" b="1" dirty="0" err="1"/>
              <a:t>Resource</a:t>
            </a:r>
            <a:r>
              <a:rPr lang="es-AR" sz="2400" b="1" dirty="0"/>
              <a:t> </a:t>
            </a:r>
            <a:r>
              <a:rPr lang="es-AR" sz="2400" b="1" dirty="0" err="1"/>
              <a:t>Consumption</a:t>
            </a:r>
            <a:r>
              <a:rPr lang="es-AR" sz="2400" b="1" dirty="0"/>
              <a:t>:</a:t>
            </a:r>
            <a:r>
              <a:rPr lang="es-AR" sz="2400" dirty="0"/>
              <a:t> Falta de límites en la cantidad de recursos que una API puede consumir (DoS).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OWASP API Security Top 10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5234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API5:2023 - </a:t>
            </a:r>
            <a:r>
              <a:rPr lang="es-AR" sz="2400" b="1" dirty="0" err="1"/>
              <a:t>Broken</a:t>
            </a:r>
            <a:r>
              <a:rPr lang="es-AR" sz="2400" b="1" dirty="0"/>
              <a:t> </a:t>
            </a:r>
            <a:r>
              <a:rPr lang="es-AR" sz="2400" b="1" dirty="0" err="1"/>
              <a:t>Function</a:t>
            </a:r>
            <a:r>
              <a:rPr lang="es-AR" sz="2400" b="1" dirty="0"/>
              <a:t> </a:t>
            </a:r>
            <a:r>
              <a:rPr lang="es-AR" sz="2400" b="1" dirty="0" err="1"/>
              <a:t>Level</a:t>
            </a:r>
            <a:r>
              <a:rPr lang="es-AR" sz="2400" b="1" dirty="0"/>
              <a:t> </a:t>
            </a:r>
            <a:r>
              <a:rPr lang="es-AR" sz="2400" b="1" dirty="0" err="1"/>
              <a:t>Authorization</a:t>
            </a:r>
            <a:r>
              <a:rPr lang="es-AR" sz="2400" b="1" dirty="0"/>
              <a:t> (BFLA):</a:t>
            </a:r>
            <a:r>
              <a:rPr lang="es-AR" sz="2400" dirty="0"/>
              <a:t> No verificar permisos para acceder a funciones/</a:t>
            </a:r>
            <a:r>
              <a:rPr lang="es-AR" sz="2400" dirty="0" err="1"/>
              <a:t>endpoints</a:t>
            </a:r>
            <a:r>
              <a:rPr lang="es-AR" sz="2400" dirty="0"/>
              <a:t> específicos.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API6:2023 - Server </a:t>
            </a:r>
            <a:r>
              <a:rPr lang="es-AR" sz="2400" b="1" dirty="0" err="1"/>
              <a:t>Side</a:t>
            </a:r>
            <a:r>
              <a:rPr lang="es-AR" sz="2400" b="1" dirty="0"/>
              <a:t> </a:t>
            </a:r>
            <a:r>
              <a:rPr lang="es-AR" sz="2400" b="1" dirty="0" err="1"/>
              <a:t>Request</a:t>
            </a:r>
            <a:r>
              <a:rPr lang="es-AR" sz="2400" b="1" dirty="0"/>
              <a:t> </a:t>
            </a:r>
            <a:r>
              <a:rPr lang="es-AR" sz="2400" b="1" dirty="0" err="1"/>
              <a:t>Forgery</a:t>
            </a:r>
            <a:r>
              <a:rPr lang="es-AR" sz="2400" b="1" dirty="0"/>
              <a:t> (SSRF):</a:t>
            </a:r>
            <a:r>
              <a:rPr lang="es-AR" sz="2400" dirty="0"/>
              <a:t> El servidor es engañado para hacer peticiones no autorizadas.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API7:2023 - Security </a:t>
            </a:r>
            <a:r>
              <a:rPr lang="es-AR" sz="2400" b="1" dirty="0" err="1"/>
              <a:t>Misconfiguration</a:t>
            </a:r>
            <a:r>
              <a:rPr lang="es-AR" sz="2400" b="1" dirty="0"/>
              <a:t>:</a:t>
            </a:r>
            <a:r>
              <a:rPr lang="es-AR" sz="2400" dirty="0"/>
              <a:t> Configuraciones inseguras en servidores, </a:t>
            </a:r>
            <a:r>
              <a:rPr lang="es-AR" sz="2400" dirty="0" err="1"/>
              <a:t>proxies</a:t>
            </a:r>
            <a:r>
              <a:rPr lang="es-AR" sz="2400" dirty="0"/>
              <a:t>, etc.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API8:2023 - </a:t>
            </a:r>
            <a:r>
              <a:rPr lang="es-AR" sz="2400" b="1" dirty="0" err="1"/>
              <a:t>Lack</a:t>
            </a:r>
            <a:r>
              <a:rPr lang="es-AR" sz="2400" b="1" dirty="0"/>
              <a:t> </a:t>
            </a:r>
            <a:r>
              <a:rPr lang="es-AR" sz="2400" b="1" dirty="0" err="1"/>
              <a:t>of</a:t>
            </a:r>
            <a:r>
              <a:rPr lang="es-AR" sz="2400" b="1" dirty="0"/>
              <a:t> </a:t>
            </a:r>
            <a:r>
              <a:rPr lang="es-AR" sz="2400" b="1" dirty="0" err="1"/>
              <a:t>Protection</a:t>
            </a:r>
            <a:r>
              <a:rPr lang="es-AR" sz="2400" b="1" dirty="0"/>
              <a:t> </a:t>
            </a:r>
            <a:r>
              <a:rPr lang="es-AR" sz="2400" b="1" dirty="0" err="1"/>
              <a:t>from</a:t>
            </a:r>
            <a:r>
              <a:rPr lang="es-AR" sz="2400" b="1" dirty="0"/>
              <a:t> </a:t>
            </a:r>
            <a:r>
              <a:rPr lang="es-AR" sz="2400" b="1" dirty="0" err="1"/>
              <a:t>Automated</a:t>
            </a:r>
            <a:r>
              <a:rPr lang="es-AR" sz="2400" b="1" dirty="0"/>
              <a:t> </a:t>
            </a:r>
            <a:r>
              <a:rPr lang="es-AR" sz="2400" b="1" dirty="0" err="1"/>
              <a:t>Threats</a:t>
            </a:r>
            <a:r>
              <a:rPr lang="es-AR" sz="2400" b="1" dirty="0"/>
              <a:t>:</a:t>
            </a:r>
            <a:r>
              <a:rPr lang="es-AR" sz="2400" dirty="0"/>
              <a:t> No hay mecanismos para detectar y mitigar ataques automatizados (</a:t>
            </a:r>
            <a:r>
              <a:rPr lang="es-AR" sz="2400" dirty="0" err="1"/>
              <a:t>bots</a:t>
            </a:r>
            <a:r>
              <a:rPr lang="es-AR" sz="2400" dirty="0"/>
              <a:t>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API9:2023 - </a:t>
            </a:r>
            <a:r>
              <a:rPr lang="es-AR" sz="2400" b="1" dirty="0" err="1"/>
              <a:t>Improper</a:t>
            </a:r>
            <a:r>
              <a:rPr lang="es-AR" sz="2400" b="1" dirty="0"/>
              <a:t> </a:t>
            </a:r>
            <a:r>
              <a:rPr lang="es-AR" sz="2400" b="1" dirty="0" err="1"/>
              <a:t>Inventory</a:t>
            </a:r>
            <a:r>
              <a:rPr lang="es-AR" sz="2400" b="1" dirty="0"/>
              <a:t> Management:</a:t>
            </a:r>
            <a:r>
              <a:rPr lang="es-AR" sz="2400" dirty="0"/>
              <a:t> Falta de control sobre las versiones de </a:t>
            </a:r>
            <a:r>
              <a:rPr lang="es-AR" sz="2400" dirty="0" err="1"/>
              <a:t>APIs</a:t>
            </a:r>
            <a:r>
              <a:rPr lang="es-AR" sz="2400" dirty="0"/>
              <a:t> y </a:t>
            </a:r>
            <a:r>
              <a:rPr lang="es-AR" sz="2400" dirty="0" err="1"/>
              <a:t>endpoints</a:t>
            </a:r>
            <a:r>
              <a:rPr lang="es-AR" sz="2400" dirty="0"/>
              <a:t> expuestos.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API10:2023 - </a:t>
            </a:r>
            <a:r>
              <a:rPr lang="es-AR" sz="2400" b="1" dirty="0" err="1"/>
              <a:t>Unsafe</a:t>
            </a:r>
            <a:r>
              <a:rPr lang="es-AR" sz="2400" b="1" dirty="0"/>
              <a:t> </a:t>
            </a:r>
            <a:r>
              <a:rPr lang="es-AR" sz="2400" b="1" dirty="0" err="1"/>
              <a:t>Consumption</a:t>
            </a:r>
            <a:r>
              <a:rPr lang="es-AR" sz="2400" b="1" dirty="0"/>
              <a:t> </a:t>
            </a:r>
            <a:r>
              <a:rPr lang="es-AR" sz="2400" b="1" dirty="0" err="1"/>
              <a:t>of</a:t>
            </a:r>
            <a:r>
              <a:rPr lang="es-AR" sz="2400" b="1" dirty="0"/>
              <a:t> </a:t>
            </a:r>
            <a:r>
              <a:rPr lang="es-AR" sz="2400" b="1" dirty="0" err="1"/>
              <a:t>APIs</a:t>
            </a:r>
            <a:r>
              <a:rPr lang="es-AR" sz="2400" b="1" dirty="0"/>
              <a:t>:</a:t>
            </a:r>
            <a:r>
              <a:rPr lang="es-AR" dirty="0"/>
              <a:t> Integrar </a:t>
            </a:r>
            <a:r>
              <a:rPr lang="es-AR" dirty="0" err="1"/>
              <a:t>APIs</a:t>
            </a:r>
            <a:r>
              <a:rPr lang="es-AR" dirty="0"/>
              <a:t> externas sin validar la seguridad de los datos recibidos.</a:t>
            </a:r>
            <a:endParaRPr lang="es-AR" sz="2000" dirty="0"/>
          </a:p>
          <a:p>
            <a:pPr marL="0" indent="0" algn="l">
              <a:lnSpc>
                <a:spcPct val="100000"/>
              </a:lnSpc>
              <a:buNone/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OWASP API Security Top 10 (cont.)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97356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>
                <a:hlinkClick r:id="rId3"/>
              </a:rPr>
              <a:t>https://owasp.org/</a:t>
            </a:r>
            <a:r>
              <a:rPr lang="es-AR" sz="2400" b="1">
                <a:hlinkClick r:id="rId3"/>
              </a:rPr>
              <a:t>www-project-cloud-native-application-security-top-10/</a:t>
            </a:r>
            <a:endParaRPr lang="es-AR" sz="2400" b="1"/>
          </a:p>
          <a:p>
            <a:pPr marL="0" indent="0" algn="l">
              <a:lnSpc>
                <a:spcPct val="100000"/>
              </a:lnSpc>
              <a:buNone/>
            </a:pPr>
            <a:endParaRPr lang="es-AR" sz="2400" b="1" dirty="0"/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CNAS-1: </a:t>
            </a:r>
            <a:r>
              <a:rPr lang="es-AR" sz="2400" b="1" dirty="0" err="1"/>
              <a:t>Insecure</a:t>
            </a:r>
            <a:r>
              <a:rPr lang="es-AR" sz="2400" b="1" dirty="0"/>
              <a:t> </a:t>
            </a:r>
            <a:r>
              <a:rPr lang="es-AR" sz="2400" b="1" dirty="0" err="1"/>
              <a:t>cloud</a:t>
            </a:r>
            <a:r>
              <a:rPr lang="es-AR" sz="2400" b="1" dirty="0"/>
              <a:t>, container </a:t>
            </a:r>
            <a:r>
              <a:rPr lang="es-AR" sz="2400" b="1" dirty="0" err="1"/>
              <a:t>or</a:t>
            </a:r>
            <a:r>
              <a:rPr lang="es-AR" sz="2400" b="1" dirty="0"/>
              <a:t> </a:t>
            </a:r>
            <a:r>
              <a:rPr lang="es-AR" sz="2400" b="1" dirty="0" err="1"/>
              <a:t>orchestration</a:t>
            </a:r>
            <a:r>
              <a:rPr lang="es-AR" sz="2400" b="1" dirty="0"/>
              <a:t> </a:t>
            </a:r>
            <a:r>
              <a:rPr lang="es-AR" sz="2400" b="1" dirty="0" err="1"/>
              <a:t>configuration</a:t>
            </a:r>
            <a:endParaRPr lang="es-AR" sz="2400" b="1" dirty="0"/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CNAS-2: </a:t>
            </a:r>
            <a:r>
              <a:rPr lang="es-AR" sz="2400" b="1" dirty="0" err="1"/>
              <a:t>Injection</a:t>
            </a:r>
            <a:r>
              <a:rPr lang="es-AR" sz="2400" b="1" dirty="0"/>
              <a:t> </a:t>
            </a:r>
            <a:r>
              <a:rPr lang="es-AR" sz="2400" b="1" dirty="0" err="1"/>
              <a:t>flaws</a:t>
            </a:r>
            <a:r>
              <a:rPr lang="es-AR" sz="2400" b="1" dirty="0"/>
              <a:t> (app </a:t>
            </a:r>
            <a:r>
              <a:rPr lang="es-AR" sz="2400" b="1" dirty="0" err="1"/>
              <a:t>layer</a:t>
            </a:r>
            <a:r>
              <a:rPr lang="es-AR" sz="2400" b="1" dirty="0"/>
              <a:t>, </a:t>
            </a:r>
            <a:r>
              <a:rPr lang="es-AR" sz="2400" b="1" dirty="0" err="1"/>
              <a:t>cloud</a:t>
            </a:r>
            <a:r>
              <a:rPr lang="es-AR" sz="2400" b="1" dirty="0"/>
              <a:t> </a:t>
            </a:r>
            <a:r>
              <a:rPr lang="es-AR" sz="2400" b="1" dirty="0" err="1"/>
              <a:t>events</a:t>
            </a:r>
            <a:r>
              <a:rPr lang="es-AR" sz="2400" b="1" dirty="0"/>
              <a:t>, </a:t>
            </a:r>
            <a:r>
              <a:rPr lang="es-AR" sz="2400" b="1" dirty="0" err="1"/>
              <a:t>cloud</a:t>
            </a:r>
            <a:r>
              <a:rPr lang="es-AR" sz="2400" b="1" dirty="0"/>
              <a:t> </a:t>
            </a:r>
            <a:r>
              <a:rPr lang="es-AR" sz="2400" b="1" dirty="0" err="1"/>
              <a:t>services</a:t>
            </a:r>
            <a:r>
              <a:rPr lang="es-AR" sz="2400" b="1" dirty="0"/>
              <a:t>)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CNAS-3: </a:t>
            </a:r>
            <a:r>
              <a:rPr lang="es-AR" sz="2400" b="1" dirty="0" err="1"/>
              <a:t>Improper</a:t>
            </a:r>
            <a:r>
              <a:rPr lang="es-AR" sz="2400" b="1" dirty="0"/>
              <a:t> </a:t>
            </a:r>
            <a:r>
              <a:rPr lang="es-AR" sz="2400" b="1" dirty="0" err="1"/>
              <a:t>authentication</a:t>
            </a:r>
            <a:r>
              <a:rPr lang="es-AR" sz="2400" b="1" dirty="0"/>
              <a:t> &amp; </a:t>
            </a:r>
            <a:r>
              <a:rPr lang="es-AR" sz="2400" b="1" dirty="0" err="1"/>
              <a:t>authorization</a:t>
            </a:r>
            <a:endParaRPr lang="es-AR" sz="2400" b="1" dirty="0"/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CNAS-4: CI/CD pipeline &amp; software </a:t>
            </a:r>
            <a:r>
              <a:rPr lang="es-AR" sz="2400" b="1" dirty="0" err="1"/>
              <a:t>supply</a:t>
            </a:r>
            <a:r>
              <a:rPr lang="es-AR" sz="2400" b="1" dirty="0"/>
              <a:t> </a:t>
            </a:r>
            <a:r>
              <a:rPr lang="es-AR" sz="2400" b="1" dirty="0" err="1"/>
              <a:t>chain</a:t>
            </a:r>
            <a:r>
              <a:rPr lang="es-AR" sz="2400" b="1" dirty="0"/>
              <a:t> </a:t>
            </a:r>
            <a:r>
              <a:rPr lang="es-AR" sz="2400" b="1" dirty="0" err="1"/>
              <a:t>flaws</a:t>
            </a:r>
            <a:endParaRPr lang="es-AR" sz="2400" b="1" dirty="0"/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CNAS-5: </a:t>
            </a:r>
            <a:r>
              <a:rPr lang="es-AR" sz="2400" b="1" dirty="0" err="1"/>
              <a:t>Insecure</a:t>
            </a:r>
            <a:r>
              <a:rPr lang="es-AR" sz="2400" b="1" dirty="0"/>
              <a:t> </a:t>
            </a:r>
            <a:r>
              <a:rPr lang="es-AR" sz="2400" b="1" dirty="0" err="1"/>
              <a:t>secrets</a:t>
            </a:r>
            <a:r>
              <a:rPr lang="es-AR" sz="2400" b="1" dirty="0"/>
              <a:t> </a:t>
            </a:r>
            <a:r>
              <a:rPr lang="es-AR" sz="2400" b="1" dirty="0" err="1"/>
              <a:t>storage</a:t>
            </a:r>
            <a:endParaRPr lang="es-AR" sz="2400" b="1" dirty="0"/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CNAS-6: </a:t>
            </a:r>
            <a:r>
              <a:rPr lang="es-AR" sz="2400" b="1" dirty="0" err="1"/>
              <a:t>Over-permissive</a:t>
            </a:r>
            <a:r>
              <a:rPr lang="es-AR" sz="2400" b="1" dirty="0"/>
              <a:t> </a:t>
            </a:r>
            <a:r>
              <a:rPr lang="es-AR" sz="2400" b="1" dirty="0" err="1"/>
              <a:t>or</a:t>
            </a:r>
            <a:r>
              <a:rPr lang="es-AR" sz="2400" b="1" dirty="0"/>
              <a:t> </a:t>
            </a:r>
            <a:r>
              <a:rPr lang="es-AR" sz="2400" b="1" dirty="0" err="1"/>
              <a:t>insecure</a:t>
            </a:r>
            <a:r>
              <a:rPr lang="es-AR" sz="2400" b="1" dirty="0"/>
              <a:t> </a:t>
            </a:r>
            <a:r>
              <a:rPr lang="es-AR" sz="2400" b="1" dirty="0" err="1"/>
              <a:t>network</a:t>
            </a:r>
            <a:r>
              <a:rPr lang="es-AR" sz="2400" b="1" dirty="0"/>
              <a:t> </a:t>
            </a:r>
            <a:r>
              <a:rPr lang="es-AR" sz="2400" b="1" dirty="0" err="1"/>
              <a:t>policies</a:t>
            </a:r>
            <a:endParaRPr lang="es-AR" sz="2400" b="1" dirty="0"/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CNAS-7: </a:t>
            </a:r>
            <a:r>
              <a:rPr lang="es-AR" sz="2400" b="1" dirty="0" err="1"/>
              <a:t>Using</a:t>
            </a:r>
            <a:r>
              <a:rPr lang="es-AR" sz="2400" b="1" dirty="0"/>
              <a:t> </a:t>
            </a:r>
            <a:r>
              <a:rPr lang="es-AR" sz="2400" b="1" dirty="0" err="1"/>
              <a:t>components</a:t>
            </a:r>
            <a:r>
              <a:rPr lang="es-AR" sz="2400" b="1" dirty="0"/>
              <a:t> </a:t>
            </a:r>
            <a:r>
              <a:rPr lang="es-AR" sz="2400" b="1" dirty="0" err="1"/>
              <a:t>with</a:t>
            </a:r>
            <a:r>
              <a:rPr lang="es-AR" sz="2400" b="1" dirty="0"/>
              <a:t> </a:t>
            </a:r>
            <a:r>
              <a:rPr lang="es-AR" sz="2400" b="1" dirty="0" err="1"/>
              <a:t>known</a:t>
            </a:r>
            <a:r>
              <a:rPr lang="es-AR" sz="2400" b="1" dirty="0"/>
              <a:t> </a:t>
            </a:r>
            <a:r>
              <a:rPr lang="es-AR" sz="2400" b="1" dirty="0" err="1"/>
              <a:t>vulnerabilities</a:t>
            </a:r>
            <a:endParaRPr lang="es-AR" sz="2400" b="1" dirty="0"/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CNAS-8: </a:t>
            </a:r>
            <a:r>
              <a:rPr lang="es-AR" sz="2400" b="1" dirty="0" err="1"/>
              <a:t>Improper</a:t>
            </a:r>
            <a:r>
              <a:rPr lang="es-AR" sz="2400" b="1" dirty="0"/>
              <a:t> </a:t>
            </a:r>
            <a:r>
              <a:rPr lang="es-AR" sz="2400" b="1" dirty="0" err="1"/>
              <a:t>assets</a:t>
            </a:r>
            <a:r>
              <a:rPr lang="es-AR" sz="2400" b="1" dirty="0"/>
              <a:t> </a:t>
            </a:r>
            <a:r>
              <a:rPr lang="es-AR" sz="2400" b="1" dirty="0" err="1"/>
              <a:t>management</a:t>
            </a:r>
            <a:endParaRPr lang="es-AR" sz="2400" b="1" dirty="0"/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CNAS-9: </a:t>
            </a:r>
            <a:r>
              <a:rPr lang="es-AR" sz="2400" b="1" dirty="0" err="1"/>
              <a:t>Inadequate</a:t>
            </a:r>
            <a:r>
              <a:rPr lang="es-AR" sz="2400" b="1" dirty="0"/>
              <a:t> ‘compute’ </a:t>
            </a:r>
            <a:r>
              <a:rPr lang="es-AR" sz="2400" b="1" dirty="0" err="1"/>
              <a:t>resource</a:t>
            </a:r>
            <a:r>
              <a:rPr lang="es-AR" sz="2400" b="1" dirty="0"/>
              <a:t> </a:t>
            </a:r>
            <a:r>
              <a:rPr lang="es-AR" sz="2400" b="1" dirty="0" err="1"/>
              <a:t>quota</a:t>
            </a:r>
            <a:r>
              <a:rPr lang="es-AR" sz="2400" b="1" dirty="0"/>
              <a:t> </a:t>
            </a:r>
            <a:r>
              <a:rPr lang="es-AR" sz="2400" b="1" dirty="0" err="1"/>
              <a:t>limits</a:t>
            </a:r>
            <a:endParaRPr lang="es-AR" sz="2400" b="1" dirty="0"/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CNAS-10: </a:t>
            </a:r>
            <a:r>
              <a:rPr lang="es-AR" sz="2400" b="1" dirty="0" err="1"/>
              <a:t>Ineffective</a:t>
            </a:r>
            <a:r>
              <a:rPr lang="es-AR" sz="2400" b="1" dirty="0"/>
              <a:t> </a:t>
            </a:r>
            <a:r>
              <a:rPr lang="es-AR" sz="2400" b="1" dirty="0" err="1"/>
              <a:t>logging</a:t>
            </a:r>
            <a:r>
              <a:rPr lang="es-AR" sz="2400" b="1" dirty="0"/>
              <a:t> &amp; </a:t>
            </a:r>
            <a:r>
              <a:rPr lang="es-AR" sz="2400" b="1" dirty="0" err="1"/>
              <a:t>monitoring</a:t>
            </a:r>
            <a:r>
              <a:rPr lang="es-AR" sz="2400" b="1" dirty="0"/>
              <a:t> (</a:t>
            </a:r>
            <a:r>
              <a:rPr lang="es-AR" sz="2400" b="1" dirty="0" err="1"/>
              <a:t>e.g</a:t>
            </a:r>
            <a:r>
              <a:rPr lang="es-AR" sz="2400" b="1" dirty="0"/>
              <a:t>. </a:t>
            </a:r>
            <a:r>
              <a:rPr lang="es-AR" sz="2400" b="1" dirty="0" err="1"/>
              <a:t>runtime</a:t>
            </a:r>
            <a:r>
              <a:rPr lang="es-AR" sz="2400" b="1" dirty="0"/>
              <a:t> </a:t>
            </a:r>
            <a:r>
              <a:rPr lang="es-AR" sz="2400" b="1" dirty="0" err="1"/>
              <a:t>activity</a:t>
            </a:r>
            <a:r>
              <a:rPr lang="es-AR" sz="2400" b="1" dirty="0"/>
              <a:t>)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Top 10 de </a:t>
            </a:r>
            <a:r>
              <a:rPr lang="en-US" b="1" dirty="0" err="1"/>
              <a:t>aplicaciones</a:t>
            </a:r>
            <a:r>
              <a:rPr lang="en-US" b="1" dirty="0"/>
              <a:t> </a:t>
            </a:r>
            <a:r>
              <a:rPr lang="en-US" b="1" dirty="0" err="1"/>
              <a:t>nativas</a:t>
            </a:r>
            <a:r>
              <a:rPr lang="en-US" b="1" dirty="0"/>
              <a:t> </a:t>
            </a:r>
            <a:r>
              <a:rPr lang="en-US" b="1" dirty="0" err="1"/>
              <a:t>en</a:t>
            </a:r>
            <a:r>
              <a:rPr lang="en-US" b="1" dirty="0"/>
              <a:t> Cloud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929540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Seguridad en aplicaciones que integran Modelos de Lenguaje Grandes (</a:t>
            </a:r>
            <a:r>
              <a:rPr lang="es-AR" sz="2400" b="1" dirty="0" err="1"/>
              <a:t>LLMs</a:t>
            </a:r>
            <a:r>
              <a:rPr lang="es-AR" sz="2400" b="1" dirty="0"/>
              <a:t>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Ejes Principales: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LLM01:2023 - </a:t>
            </a:r>
            <a:r>
              <a:rPr lang="es-AR" sz="2400" b="1" dirty="0" err="1"/>
              <a:t>Prompt</a:t>
            </a:r>
            <a:r>
              <a:rPr lang="es-AR" sz="2400" b="1" dirty="0"/>
              <a:t> </a:t>
            </a:r>
            <a:r>
              <a:rPr lang="es-AR" sz="2400" b="1" dirty="0" err="1"/>
              <a:t>Injection</a:t>
            </a:r>
            <a:r>
              <a:rPr lang="es-AR" sz="2400" b="1" dirty="0"/>
              <a:t>: Manipulación del LLM a través de inputs maliciosos para hacer que genere respuestas no deseadas o revele información.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LLM02:2023 - </a:t>
            </a:r>
            <a:r>
              <a:rPr lang="es-AR" sz="2400" b="1" dirty="0" err="1"/>
              <a:t>Insecure</a:t>
            </a:r>
            <a:r>
              <a:rPr lang="es-AR" sz="2400" b="1" dirty="0"/>
              <a:t> Output </a:t>
            </a:r>
            <a:r>
              <a:rPr lang="es-AR" sz="2400" b="1" dirty="0" err="1"/>
              <a:t>Handling</a:t>
            </a:r>
            <a:r>
              <a:rPr lang="es-AR" sz="2400" b="1" dirty="0"/>
              <a:t>: Salida del LLM no sanitizada, llevando a XSS o inyección de código.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LLM03:2023 - Training Data </a:t>
            </a:r>
            <a:r>
              <a:rPr lang="es-AR" sz="2400" b="1" dirty="0" err="1"/>
              <a:t>Poisoning</a:t>
            </a:r>
            <a:r>
              <a:rPr lang="es-AR" sz="2400" b="1" dirty="0"/>
              <a:t>: Manipulación del </a:t>
            </a:r>
            <a:r>
              <a:rPr lang="es-AR" sz="2400" b="1" dirty="0" err="1"/>
              <a:t>dataset</a:t>
            </a:r>
            <a:r>
              <a:rPr lang="es-AR" sz="2400" b="1" dirty="0"/>
              <a:t> de entrenamiento del LLM para introducir sesgos o vulnerabilidades.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LLM04:2023 - </a:t>
            </a:r>
            <a:r>
              <a:rPr lang="es-AR" sz="2400" b="1" dirty="0" err="1"/>
              <a:t>Model</a:t>
            </a:r>
            <a:r>
              <a:rPr lang="es-AR" sz="2400" b="1" dirty="0"/>
              <a:t> </a:t>
            </a:r>
            <a:r>
              <a:rPr lang="es-AR" sz="2400" b="1" dirty="0" err="1"/>
              <a:t>Denial</a:t>
            </a:r>
            <a:r>
              <a:rPr lang="es-AR" sz="2400" b="1" dirty="0"/>
              <a:t> </a:t>
            </a:r>
            <a:r>
              <a:rPr lang="es-AR" sz="2400" b="1" dirty="0" err="1"/>
              <a:t>of</a:t>
            </a:r>
            <a:r>
              <a:rPr lang="es-AR" sz="2400" b="1" dirty="0"/>
              <a:t> </a:t>
            </a:r>
            <a:r>
              <a:rPr lang="es-AR" sz="2400" b="1" dirty="0" err="1"/>
              <a:t>Service</a:t>
            </a:r>
            <a:r>
              <a:rPr lang="es-AR" sz="2400" b="1" dirty="0"/>
              <a:t>: Consumo excesivo de recursos por el LLM debido a inputs específicos.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LLM05:2023 - </a:t>
            </a:r>
            <a:r>
              <a:rPr lang="es-AR" sz="2400" b="1" dirty="0" err="1"/>
              <a:t>Supply</a:t>
            </a:r>
            <a:r>
              <a:rPr lang="es-AR" sz="2400" b="1" dirty="0"/>
              <a:t> </a:t>
            </a:r>
            <a:r>
              <a:rPr lang="es-AR" sz="2400" b="1" dirty="0" err="1"/>
              <a:t>Chain</a:t>
            </a:r>
            <a:r>
              <a:rPr lang="es-AR" sz="2400" b="1" dirty="0"/>
              <a:t> </a:t>
            </a:r>
            <a:r>
              <a:rPr lang="es-AR" sz="2400" b="1" dirty="0" err="1"/>
              <a:t>Vulnerabilities</a:t>
            </a:r>
            <a:r>
              <a:rPr lang="es-AR" sz="2400" b="1" dirty="0"/>
              <a:t>: Vulnerabilidades en la cadena de suministro de los componentes del LLM.</a:t>
            </a:r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Top 10 for Large Language Model (LLM)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412900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LLM06:2023 - </a:t>
            </a:r>
            <a:r>
              <a:rPr lang="es-AR" sz="2400" b="1" dirty="0" err="1"/>
              <a:t>Sensitive</a:t>
            </a:r>
            <a:r>
              <a:rPr lang="es-AR" sz="2400" b="1" dirty="0"/>
              <a:t> </a:t>
            </a:r>
            <a:r>
              <a:rPr lang="es-AR" sz="2400" b="1" dirty="0" err="1"/>
              <a:t>Information</a:t>
            </a:r>
            <a:r>
              <a:rPr lang="es-AR" sz="2400" b="1" dirty="0"/>
              <a:t> </a:t>
            </a:r>
            <a:r>
              <a:rPr lang="es-AR" sz="2400" b="1" dirty="0" err="1"/>
              <a:t>Disclosure</a:t>
            </a:r>
            <a:r>
              <a:rPr lang="es-AR" sz="2400" b="1" dirty="0"/>
              <a:t>: El LLM revela información sensible accidentalmente (ej. datos de entrenamiento).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LLM07:2023 - </a:t>
            </a:r>
            <a:r>
              <a:rPr lang="es-AR" sz="2400" b="1" dirty="0" err="1"/>
              <a:t>Insecure</a:t>
            </a:r>
            <a:r>
              <a:rPr lang="es-AR" sz="2400" b="1" dirty="0"/>
              <a:t> Plugin </a:t>
            </a:r>
            <a:r>
              <a:rPr lang="es-AR" sz="2400" b="1" dirty="0" err="1"/>
              <a:t>Design</a:t>
            </a:r>
            <a:r>
              <a:rPr lang="es-AR" sz="2400" b="1" dirty="0"/>
              <a:t>: </a:t>
            </a:r>
            <a:r>
              <a:rPr lang="es-AR" sz="2400" b="1" dirty="0" err="1"/>
              <a:t>Plugins</a:t>
            </a:r>
            <a:r>
              <a:rPr lang="es-AR" sz="2400" b="1" dirty="0"/>
              <a:t> o extensiones del LLM con vulnerabilidades que pueden ser explotadas.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LLM08:2023 - </a:t>
            </a:r>
            <a:r>
              <a:rPr lang="es-AR" sz="2400" b="1" dirty="0" err="1"/>
              <a:t>Excessive</a:t>
            </a:r>
            <a:r>
              <a:rPr lang="es-AR" sz="2400" b="1" dirty="0"/>
              <a:t> Agency: El LLM tiene demasiados permisos o acceso a sistemas críticos.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LLM09:2023 - </a:t>
            </a:r>
            <a:r>
              <a:rPr lang="es-AR" sz="2400" b="1" dirty="0" err="1"/>
              <a:t>Overreliance</a:t>
            </a:r>
            <a:r>
              <a:rPr lang="es-AR" sz="2400" b="1" dirty="0"/>
              <a:t>: Dependencia excesiva del LLM para tareas críticas sin supervisión humana.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s-AR" sz="2400" b="1" dirty="0"/>
              <a:t>LLM10:2023 - </a:t>
            </a:r>
            <a:r>
              <a:rPr lang="es-AR" sz="2400" b="1" dirty="0" err="1"/>
              <a:t>Model</a:t>
            </a:r>
            <a:r>
              <a:rPr lang="es-AR" sz="2400" b="1" dirty="0"/>
              <a:t> </a:t>
            </a:r>
            <a:r>
              <a:rPr lang="es-AR" sz="2400" b="1" dirty="0" err="1"/>
              <a:t>Theft</a:t>
            </a:r>
            <a:r>
              <a:rPr lang="es-AR" sz="2400" b="1" dirty="0"/>
              <a:t>: Robo del modelo LLM o de sus pesos/parámetros</a:t>
            </a:r>
          </a:p>
          <a:p>
            <a:pPr marL="0" indent="0" algn="l">
              <a:lnSpc>
                <a:spcPct val="100000"/>
              </a:lnSpc>
              <a:buNone/>
            </a:pPr>
            <a:endParaRPr lang="es-AR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Top 10 for Large Language Model (LLM) cont.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50303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s-AR" sz="2400" dirty="0">
                <a:hlinkClick r:id="rId3"/>
              </a:rPr>
              <a:t>https://wiki.owasp.org/index.php/OWASP_Internet_of_Things_Project#tab=IoT_Top_10</a:t>
            </a:r>
            <a:endParaRPr lang="es-AR" sz="2400" dirty="0"/>
          </a:p>
          <a:p>
            <a:pPr marL="0" indent="0" algn="l">
              <a:lnSpc>
                <a:spcPct val="100000"/>
              </a:lnSpc>
              <a:buNone/>
            </a:pPr>
            <a:endParaRPr lang="es-AR" sz="2400" b="1" dirty="0"/>
          </a:p>
          <a:p>
            <a:pPr marL="342900" indent="-342900" algn="l">
              <a:lnSpc>
                <a:spcPct val="100000"/>
              </a:lnSpc>
            </a:pPr>
            <a:r>
              <a:rPr lang="en-US" sz="2400" b="1" dirty="0"/>
              <a:t>I1 Weak Guessable, or Hardcoded Passwords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sz="2400" b="1" dirty="0"/>
              <a:t>I2 Insecure Network Services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sz="2400" b="1" dirty="0"/>
              <a:t>I3 Insecure Ecosystem Interfaces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sz="2400" b="1" dirty="0"/>
              <a:t>I4 Lack of Secure Update Mechanism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sz="2400" b="1" dirty="0"/>
              <a:t>I5 Use of Insecure or Outdated Components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sz="2400" b="1" dirty="0"/>
              <a:t>I6 Insufficient Privacy Protection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sz="2400" b="1" dirty="0"/>
              <a:t>I7 Insecure Data Transfer and Storage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sz="2400" b="1" dirty="0"/>
              <a:t>I8 Lack of Device Management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sz="2400" b="1"/>
              <a:t>I9 </a:t>
            </a:r>
            <a:r>
              <a:rPr lang="en-US" sz="2400" b="1" dirty="0"/>
              <a:t>Insecure Default Settings</a:t>
            </a:r>
          </a:p>
          <a:p>
            <a:pPr marL="342900" indent="-342900" algn="l">
              <a:lnSpc>
                <a:spcPct val="100000"/>
              </a:lnSpc>
            </a:pPr>
            <a:r>
              <a:rPr lang="en-US" sz="2400" b="1"/>
              <a:t>I10 </a:t>
            </a:r>
            <a:r>
              <a:rPr lang="en-US" sz="2400" b="1" dirty="0"/>
              <a:t>Lack of Physical Hardening</a:t>
            </a:r>
            <a:endParaRPr lang="es-AR" sz="2400" b="1" dirty="0"/>
          </a:p>
        </p:txBody>
      </p:sp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Top 10 de IoT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156908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Blockchain Top 10 (Draft / Emerging)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B544EF-D267-4420-B57C-5F88652CC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s-AR" dirty="0"/>
              <a:t>Ejes Principales (</a:t>
            </a:r>
            <a:r>
              <a:rPr lang="fr-FR" dirty="0"/>
              <a:t>blockchain (smart </a:t>
            </a:r>
            <a:r>
              <a:rPr lang="fr-FR" dirty="0" err="1"/>
              <a:t>contracts</a:t>
            </a:r>
            <a:r>
              <a:rPr lang="fr-FR" dirty="0"/>
              <a:t>, </a:t>
            </a:r>
            <a:r>
              <a:rPr lang="fr-FR" dirty="0" err="1"/>
              <a:t>protocolos</a:t>
            </a:r>
            <a:r>
              <a:rPr lang="fr-FR" dirty="0"/>
              <a:t>, etc.)</a:t>
            </a:r>
            <a:r>
              <a:rPr lang="es-AR" dirty="0"/>
              <a:t>: </a:t>
            </a:r>
          </a:p>
          <a:p>
            <a:pPr marL="152396" indent="0">
              <a:buNone/>
            </a:pPr>
            <a:r>
              <a:rPr lang="es-AR" dirty="0"/>
              <a:t>1.	</a:t>
            </a:r>
            <a:r>
              <a:rPr lang="es-AR" dirty="0" err="1"/>
              <a:t>Reentrancy</a:t>
            </a:r>
            <a:r>
              <a:rPr lang="es-AR" dirty="0"/>
              <a:t>: Un contrato llama a otro que lo llama de nuevo antes de que el primero termine, drenando fondos.</a:t>
            </a:r>
          </a:p>
          <a:p>
            <a:pPr marL="152396" indent="0">
              <a:buNone/>
            </a:pPr>
            <a:r>
              <a:rPr lang="es-AR" dirty="0"/>
              <a:t>2.	</a:t>
            </a:r>
            <a:r>
              <a:rPr lang="es-AR" dirty="0" err="1"/>
              <a:t>Integer</a:t>
            </a:r>
            <a:r>
              <a:rPr lang="es-AR" dirty="0"/>
              <a:t> </a:t>
            </a:r>
            <a:r>
              <a:rPr lang="es-AR" dirty="0" err="1"/>
              <a:t>Overflow</a:t>
            </a:r>
            <a:r>
              <a:rPr lang="es-AR" dirty="0"/>
              <a:t>/</a:t>
            </a:r>
            <a:r>
              <a:rPr lang="es-AR" dirty="0" err="1"/>
              <a:t>Underflow</a:t>
            </a:r>
            <a:r>
              <a:rPr lang="es-AR" dirty="0"/>
              <a:t>: Operaciones aritméticas que superan los límites de tipo de dato, llevando a resultados inesperados y </a:t>
            </a:r>
            <a:r>
              <a:rPr lang="es-AR" dirty="0" err="1"/>
              <a:t>exploits</a:t>
            </a:r>
            <a:r>
              <a:rPr lang="es-AR" dirty="0"/>
              <a:t>.</a:t>
            </a:r>
          </a:p>
          <a:p>
            <a:pPr marL="152396" indent="0">
              <a:buNone/>
            </a:pPr>
            <a:r>
              <a:rPr lang="es-AR" dirty="0"/>
              <a:t>3.	Front-running: Atacantes observan transacciones pendientes y envían sus propias transacciones con un gas </a:t>
            </a:r>
            <a:r>
              <a:rPr lang="es-AR" dirty="0" err="1"/>
              <a:t>price</a:t>
            </a:r>
            <a:r>
              <a:rPr lang="es-AR" dirty="0"/>
              <a:t> más alto para que se ejecuten primero.</a:t>
            </a:r>
          </a:p>
          <a:p>
            <a:pPr marL="152396" indent="0">
              <a:buNone/>
            </a:pPr>
            <a:r>
              <a:rPr lang="es-AR" dirty="0"/>
              <a:t>4.	</a:t>
            </a:r>
            <a:r>
              <a:rPr lang="es-AR" dirty="0" err="1"/>
              <a:t>Denial</a:t>
            </a:r>
            <a:r>
              <a:rPr lang="es-AR" dirty="0"/>
              <a:t> </a:t>
            </a:r>
            <a:r>
              <a:rPr lang="es-AR" dirty="0" err="1"/>
              <a:t>of</a:t>
            </a:r>
            <a:r>
              <a:rPr lang="es-AR" dirty="0"/>
              <a:t> </a:t>
            </a:r>
            <a:r>
              <a:rPr lang="es-AR" dirty="0" err="1"/>
              <a:t>Service</a:t>
            </a:r>
            <a:r>
              <a:rPr lang="es-AR" dirty="0"/>
              <a:t> (DoS): Ataques que impiden que los usuarios legítimos interactúen con el contrato o la red.</a:t>
            </a:r>
          </a:p>
          <a:p>
            <a:pPr marL="152396" indent="0">
              <a:buNone/>
            </a:pPr>
            <a:r>
              <a:rPr lang="es-AR" dirty="0"/>
              <a:t>5.	Time </a:t>
            </a:r>
            <a:r>
              <a:rPr lang="es-AR" dirty="0" err="1"/>
              <a:t>Manipulation</a:t>
            </a:r>
            <a:r>
              <a:rPr lang="es-AR" dirty="0"/>
              <a:t> (</a:t>
            </a:r>
            <a:r>
              <a:rPr lang="es-AR" dirty="0" err="1"/>
              <a:t>Timestamp</a:t>
            </a:r>
            <a:r>
              <a:rPr lang="es-AR" dirty="0"/>
              <a:t> </a:t>
            </a:r>
            <a:r>
              <a:rPr lang="es-AR" dirty="0" err="1"/>
              <a:t>Dependence</a:t>
            </a:r>
            <a:r>
              <a:rPr lang="es-AR" dirty="0"/>
              <a:t>): Un contrato depende del </a:t>
            </a:r>
            <a:r>
              <a:rPr lang="es-AR" dirty="0" err="1"/>
              <a:t>timestamp</a:t>
            </a:r>
            <a:r>
              <a:rPr lang="es-AR" dirty="0"/>
              <a:t> del bloque, que puede ser manipulado por mineros.</a:t>
            </a:r>
          </a:p>
        </p:txBody>
      </p:sp>
    </p:spTree>
    <p:extLst>
      <p:ext uri="{BB962C8B-B14F-4D97-AF65-F5344CB8AC3E}">
        <p14:creationId xmlns:p14="http://schemas.microsoft.com/office/powerpoint/2010/main" val="2038731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-US" b="1" dirty="0"/>
              <a:t>Blockchain Top 10 (Draft / Emerging) cont.</a:t>
            </a:r>
            <a:endParaRPr lang="es-AR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B544EF-D267-4420-B57C-5F88652CC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2396" indent="0">
              <a:buNone/>
            </a:pPr>
            <a:r>
              <a:rPr lang="es-AR" dirty="0"/>
              <a:t>6.	Short </a:t>
            </a:r>
            <a:r>
              <a:rPr lang="es-AR" dirty="0" err="1"/>
              <a:t>Address</a:t>
            </a:r>
            <a:r>
              <a:rPr lang="es-AR" dirty="0"/>
              <a:t> </a:t>
            </a:r>
            <a:r>
              <a:rPr lang="es-AR" dirty="0" err="1"/>
              <a:t>Attack</a:t>
            </a:r>
            <a:r>
              <a:rPr lang="es-AR" dirty="0"/>
              <a:t>: Vulnerabilidad en contratos que no manejan correctamente direcciones incompletas.</a:t>
            </a:r>
          </a:p>
          <a:p>
            <a:pPr marL="152396" indent="0">
              <a:buNone/>
            </a:pPr>
            <a:r>
              <a:rPr lang="es-AR" dirty="0"/>
              <a:t>7.	</a:t>
            </a:r>
            <a:r>
              <a:rPr lang="es-AR" dirty="0" err="1"/>
              <a:t>Logic</a:t>
            </a:r>
            <a:r>
              <a:rPr lang="es-AR" dirty="0"/>
              <a:t> </a:t>
            </a:r>
            <a:r>
              <a:rPr lang="es-AR" dirty="0" err="1"/>
              <a:t>Errors</a:t>
            </a:r>
            <a:r>
              <a:rPr lang="es-AR" dirty="0"/>
              <a:t>: Errores en la lógica de negocio del contrato que pueden ser explotados.</a:t>
            </a:r>
          </a:p>
          <a:p>
            <a:pPr marL="152396" indent="0">
              <a:buNone/>
            </a:pPr>
            <a:r>
              <a:rPr lang="es-AR" dirty="0"/>
              <a:t>8.	Access Control </a:t>
            </a:r>
            <a:r>
              <a:rPr lang="es-AR" dirty="0" err="1"/>
              <a:t>Vulnerabilities</a:t>
            </a:r>
            <a:r>
              <a:rPr lang="es-AR" dirty="0"/>
              <a:t>: Fallas en la autorización de funciones críticas del contrato.</a:t>
            </a:r>
          </a:p>
          <a:p>
            <a:pPr marL="152396" indent="0">
              <a:buNone/>
            </a:pPr>
            <a:r>
              <a:rPr lang="es-AR" dirty="0"/>
              <a:t>9.	</a:t>
            </a:r>
            <a:r>
              <a:rPr lang="es-AR" dirty="0" err="1"/>
              <a:t>External</a:t>
            </a:r>
            <a:r>
              <a:rPr lang="es-AR" dirty="0"/>
              <a:t> </a:t>
            </a:r>
            <a:r>
              <a:rPr lang="es-AR" dirty="0" err="1"/>
              <a:t>Call</a:t>
            </a:r>
            <a:r>
              <a:rPr lang="es-AR" dirty="0"/>
              <a:t> </a:t>
            </a:r>
            <a:r>
              <a:rPr lang="es-AR" dirty="0" err="1"/>
              <a:t>Vulnerabilities</a:t>
            </a:r>
            <a:r>
              <a:rPr lang="es-AR" dirty="0"/>
              <a:t>: Inseguridad al interactuar con contratos externos.</a:t>
            </a:r>
          </a:p>
          <a:p>
            <a:pPr marL="152396" indent="0">
              <a:buNone/>
            </a:pPr>
            <a:r>
              <a:rPr lang="es-AR" dirty="0"/>
              <a:t>10.	</a:t>
            </a:r>
            <a:r>
              <a:rPr lang="es-AR" dirty="0" err="1"/>
              <a:t>Centralization</a:t>
            </a:r>
            <a:r>
              <a:rPr lang="es-AR" dirty="0"/>
              <a:t> </a:t>
            </a:r>
            <a:r>
              <a:rPr lang="es-AR" dirty="0" err="1"/>
              <a:t>Risks</a:t>
            </a:r>
            <a:r>
              <a:rPr lang="es-AR" dirty="0"/>
              <a:t>: Puntos de fallo centralizados en sistemas "descentralizados" (ej. oráculos centralizados).</a:t>
            </a:r>
          </a:p>
          <a:p>
            <a:pPr marL="152396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9056797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10:2025 RC1 — Explicaciones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ampliada</a:t>
            </a:r>
            <a:r>
              <a:rPr dirty="0"/>
              <a:t>: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, </a:t>
            </a:r>
            <a:r>
              <a:rPr dirty="0" err="1"/>
              <a:t>remediaciones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a OSI.</a:t>
            </a:r>
            <a:endParaRPr lang="es-AR" dirty="0"/>
          </a:p>
          <a:p>
            <a:pPr marL="0" indent="0">
              <a:buNone/>
              <a:defRPr sz="1800"/>
            </a:pPr>
            <a:r>
              <a:rPr lang="es-AR" sz="2400" b="1" dirty="0"/>
              <a:t>A01 — </a:t>
            </a:r>
            <a:r>
              <a:rPr lang="es-AR" sz="2400" b="1" dirty="0" err="1"/>
              <a:t>Broken</a:t>
            </a:r>
            <a:r>
              <a:rPr lang="es-AR" sz="2400" b="1" dirty="0"/>
              <a:t> Access Control</a:t>
            </a:r>
          </a:p>
          <a:p>
            <a:pPr>
              <a:defRPr sz="1800"/>
            </a:pPr>
            <a:r>
              <a:rPr lang="es-AR" sz="2400" b="1" dirty="0"/>
              <a:t>Acceso no autorizado a recursos o acciones por bugs en la autorización.</a:t>
            </a:r>
          </a:p>
          <a:p>
            <a:pPr>
              <a:defRPr sz="1800"/>
            </a:pPr>
            <a:r>
              <a:rPr lang="es-AR" sz="2400" b="1" dirty="0"/>
              <a:t>Ejemplo: Ejemplo: modificar parámetro /api/</a:t>
            </a:r>
            <a:r>
              <a:rPr lang="es-AR" sz="2400" b="1" dirty="0" err="1"/>
              <a:t>users</a:t>
            </a:r>
            <a:r>
              <a:rPr lang="es-AR" sz="2400" b="1" dirty="0"/>
              <a:t>/102 → devuelve datos de otro usuario.</a:t>
            </a:r>
          </a:p>
          <a:p>
            <a:pPr>
              <a:defRPr sz="1800"/>
            </a:pPr>
            <a:r>
              <a:rPr lang="es-AR" sz="2400" b="1" dirty="0"/>
              <a:t>Mitigaciones: Mitigaciones: validar autorización a nivel de recurso, pruebas automatizadas (BOLA </a:t>
            </a:r>
            <a:r>
              <a:rPr lang="es-AR" sz="2400" b="1" dirty="0" err="1"/>
              <a:t>tests</a:t>
            </a:r>
            <a:r>
              <a:rPr lang="es-AR" sz="2400" b="1" dirty="0"/>
              <a:t>), use </a:t>
            </a:r>
            <a:r>
              <a:rPr lang="es-AR" sz="2400" b="1" dirty="0" err="1"/>
              <a:t>least-privilege</a:t>
            </a:r>
            <a:r>
              <a:rPr lang="es-AR" sz="2400" b="1" dirty="0"/>
              <a:t>. </a:t>
            </a:r>
          </a:p>
          <a:p>
            <a:pPr>
              <a:defRPr sz="1800"/>
            </a:pPr>
            <a:r>
              <a:rPr lang="es-AR" sz="2400" b="1" dirty="0"/>
              <a:t>Mapeo OSI: Capa 7 (Aplicación).</a:t>
            </a:r>
          </a:p>
          <a:p>
            <a:pPr>
              <a:defRPr sz="1800"/>
            </a:pPr>
            <a:endParaRPr lang="es-AR" sz="2400" b="1" dirty="0"/>
          </a:p>
          <a:p>
            <a:pPr>
              <a:defRPr sz="1800"/>
            </a:pPr>
            <a:endParaRPr sz="24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10:2025 RC1 — Explicaciones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defRPr sz="1800"/>
            </a:pP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ampliada</a:t>
            </a:r>
            <a:r>
              <a:rPr dirty="0"/>
              <a:t>: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, </a:t>
            </a:r>
            <a:r>
              <a:rPr dirty="0" err="1"/>
              <a:t>remediaciones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a OSI.</a:t>
            </a:r>
            <a:endParaRPr lang="es-AR" dirty="0"/>
          </a:p>
          <a:p>
            <a:pPr marL="0" indent="0">
              <a:buNone/>
              <a:defRPr sz="1800"/>
            </a:pPr>
            <a:r>
              <a:rPr lang="es-AR" sz="2400" b="1" dirty="0"/>
              <a:t>A02 — </a:t>
            </a:r>
            <a:r>
              <a:rPr lang="es-AR" sz="2400" b="1" dirty="0" err="1"/>
              <a:t>Cryptographic</a:t>
            </a:r>
            <a:r>
              <a:rPr lang="es-AR" sz="2400" b="1" dirty="0"/>
              <a:t> </a:t>
            </a:r>
            <a:r>
              <a:rPr lang="es-AR" sz="2400" b="1" dirty="0" err="1"/>
              <a:t>Failures</a:t>
            </a:r>
            <a:endParaRPr lang="es-AR" sz="2400" b="1" dirty="0"/>
          </a:p>
          <a:p>
            <a:pPr>
              <a:defRPr sz="1800"/>
            </a:pPr>
            <a:r>
              <a:rPr lang="es-AR" sz="2400" b="1" dirty="0"/>
              <a:t>Uso incorrecto o ausencia de criptografía para proteger datos en tránsito/ reposo.</a:t>
            </a:r>
          </a:p>
          <a:p>
            <a:pPr>
              <a:defRPr sz="1800"/>
            </a:pPr>
            <a:r>
              <a:rPr lang="es-AR" sz="2400" b="1" dirty="0"/>
              <a:t>Ejemplo: Ejemplo: contraseñas almacenadas en texto plano o TLS configurado con </a:t>
            </a:r>
            <a:r>
              <a:rPr lang="es-AR" sz="2400" b="1" dirty="0" err="1"/>
              <a:t>ciphers</a:t>
            </a:r>
            <a:r>
              <a:rPr lang="es-AR" sz="2400" b="1" dirty="0"/>
              <a:t> obsoletos.</a:t>
            </a:r>
          </a:p>
          <a:p>
            <a:pPr>
              <a:defRPr sz="1800"/>
            </a:pPr>
            <a:r>
              <a:rPr lang="es-AR" sz="2400" b="1" dirty="0"/>
              <a:t>Mitigaciones: Mitigaciones: usar TLS 1.2/1.3, HSTS, PBKDF2/Argon2/</a:t>
            </a:r>
            <a:r>
              <a:rPr lang="es-AR" sz="2400" b="1" dirty="0" err="1"/>
              <a:t>scrypt</a:t>
            </a:r>
            <a:r>
              <a:rPr lang="es-AR" sz="2400" b="1" dirty="0"/>
              <a:t> para contraseñas, gestión segura de claves. </a:t>
            </a:r>
          </a:p>
          <a:p>
            <a:pPr>
              <a:defRPr sz="1800"/>
            </a:pPr>
            <a:r>
              <a:rPr lang="es-AR" sz="2400" b="1" dirty="0"/>
              <a:t>Mapeo OSI: Capa 5/6 (Sesión/Presentación).</a:t>
            </a:r>
          </a:p>
          <a:p>
            <a:pPr>
              <a:defRPr sz="1800"/>
            </a:pPr>
            <a:endParaRPr lang="es-AR" sz="2400" b="1" dirty="0"/>
          </a:p>
          <a:p>
            <a:pPr>
              <a:defRPr sz="1800"/>
            </a:pP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4256222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10:2025 RC1 — Explicaciones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defRPr sz="1800"/>
            </a:pP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ampliada</a:t>
            </a:r>
            <a:r>
              <a:rPr dirty="0"/>
              <a:t>: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, </a:t>
            </a:r>
            <a:r>
              <a:rPr dirty="0" err="1"/>
              <a:t>remediaciones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a OSI.</a:t>
            </a:r>
            <a:endParaRPr lang="es-AR" dirty="0"/>
          </a:p>
          <a:p>
            <a:pPr marL="0" indent="0">
              <a:buNone/>
              <a:defRPr sz="1800"/>
            </a:pPr>
            <a:r>
              <a:rPr lang="es-AR" sz="2400" b="1" dirty="0"/>
              <a:t>A03 — </a:t>
            </a:r>
            <a:r>
              <a:rPr lang="es-AR" sz="2400" b="1" dirty="0" err="1"/>
              <a:t>Injection</a:t>
            </a:r>
            <a:r>
              <a:rPr lang="es-AR" sz="2400" b="1" dirty="0"/>
              <a:t> (SQL/NoSQL/</a:t>
            </a:r>
            <a:r>
              <a:rPr lang="es-AR" sz="2400" b="1" dirty="0" err="1"/>
              <a:t>Command</a:t>
            </a:r>
            <a:r>
              <a:rPr lang="es-AR" sz="2400" b="1" dirty="0"/>
              <a:t>)</a:t>
            </a:r>
          </a:p>
          <a:p>
            <a:pPr>
              <a:defRPr sz="1800"/>
            </a:pPr>
            <a:r>
              <a:rPr lang="es-AR" sz="2400" b="1" dirty="0"/>
              <a:t>Entrada no sanitizada que permite ejecutar código en la capa de datos o sistema.</a:t>
            </a:r>
          </a:p>
          <a:p>
            <a:pPr>
              <a:defRPr sz="1800"/>
            </a:pPr>
            <a:r>
              <a:rPr lang="es-AR" sz="2400" b="1" dirty="0"/>
              <a:t>Ejemplo: Ejemplo: </a:t>
            </a:r>
            <a:r>
              <a:rPr lang="es-AR" sz="2400" b="1" dirty="0" err="1"/>
              <a:t>login</a:t>
            </a:r>
            <a:r>
              <a:rPr lang="es-AR" sz="2400" b="1" dirty="0"/>
              <a:t> vulnerable a "' OR '1'='1" devolviendo acceso sin credenciales.</a:t>
            </a:r>
          </a:p>
          <a:p>
            <a:pPr>
              <a:defRPr sz="1800"/>
            </a:pPr>
            <a:r>
              <a:rPr lang="es-AR" sz="2400" b="1" dirty="0"/>
              <a:t>Mitigaciones: Mitigaciones: </a:t>
            </a:r>
            <a:r>
              <a:rPr lang="es-AR" sz="2400" b="1" dirty="0" err="1"/>
              <a:t>queries</a:t>
            </a:r>
            <a:r>
              <a:rPr lang="es-AR" sz="2400" b="1" dirty="0"/>
              <a:t> parametrizados/</a:t>
            </a:r>
            <a:r>
              <a:rPr lang="es-AR" sz="2400" b="1" dirty="0" err="1"/>
              <a:t>prepared</a:t>
            </a:r>
            <a:r>
              <a:rPr lang="es-AR" sz="2400" b="1" dirty="0"/>
              <a:t> </a:t>
            </a:r>
            <a:r>
              <a:rPr lang="es-AR" sz="2400" b="1" dirty="0" err="1"/>
              <a:t>statements</a:t>
            </a:r>
            <a:r>
              <a:rPr lang="es-AR" sz="2400" b="1" dirty="0"/>
              <a:t>, validación de entrada, ORM; pruebas de </a:t>
            </a:r>
            <a:r>
              <a:rPr lang="es-AR" sz="2400" b="1" dirty="0" err="1"/>
              <a:t>fuzzing</a:t>
            </a:r>
            <a:r>
              <a:rPr lang="es-AR" sz="2400" b="1" dirty="0"/>
              <a:t>.</a:t>
            </a:r>
          </a:p>
          <a:p>
            <a:pPr>
              <a:defRPr sz="1800"/>
            </a:pPr>
            <a:r>
              <a:rPr lang="es-AR" sz="2400" b="1" dirty="0"/>
              <a:t> Mapeo OSI: Capa 7 (Aplicación).</a:t>
            </a:r>
          </a:p>
          <a:p>
            <a:pPr>
              <a:defRPr sz="1800"/>
            </a:pPr>
            <a:endParaRPr lang="es-AR" sz="2400" b="1" dirty="0"/>
          </a:p>
          <a:p>
            <a:pPr>
              <a:defRPr sz="1800"/>
            </a:pP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33015777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10:2025 RC1 — Explicaciones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defRPr sz="1800"/>
            </a:pP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ampliada</a:t>
            </a:r>
            <a:r>
              <a:rPr dirty="0"/>
              <a:t>: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, </a:t>
            </a:r>
            <a:r>
              <a:rPr dirty="0" err="1"/>
              <a:t>remediaciones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a OSI.</a:t>
            </a:r>
            <a:endParaRPr lang="es-AR" dirty="0"/>
          </a:p>
          <a:p>
            <a:pPr marL="0" indent="0">
              <a:buNone/>
              <a:defRPr sz="1800"/>
            </a:pPr>
            <a:r>
              <a:rPr lang="es-AR" sz="2400" b="1" dirty="0"/>
              <a:t>A04 — </a:t>
            </a:r>
            <a:r>
              <a:rPr lang="es-AR" sz="2400" b="1" dirty="0" err="1"/>
              <a:t>Insecure</a:t>
            </a:r>
            <a:r>
              <a:rPr lang="es-AR" sz="2400" b="1" dirty="0"/>
              <a:t> </a:t>
            </a:r>
            <a:r>
              <a:rPr lang="es-AR" sz="2400" b="1" dirty="0" err="1"/>
              <a:t>Design</a:t>
            </a:r>
            <a:endParaRPr lang="es-AR" sz="2400" b="1" dirty="0"/>
          </a:p>
          <a:p>
            <a:pPr>
              <a:defRPr sz="1800"/>
            </a:pPr>
            <a:r>
              <a:rPr lang="es-AR" sz="2400" b="1" dirty="0"/>
              <a:t>Falta de principios de seguridad en la fase de diseño (</a:t>
            </a:r>
            <a:r>
              <a:rPr lang="es-AR" sz="2400" b="1" dirty="0" err="1"/>
              <a:t>threat</a:t>
            </a:r>
            <a:r>
              <a:rPr lang="es-AR" sz="2400" b="1" dirty="0"/>
              <a:t> </a:t>
            </a:r>
            <a:r>
              <a:rPr lang="es-AR" sz="2400" b="1" dirty="0" err="1"/>
              <a:t>modeling</a:t>
            </a:r>
            <a:r>
              <a:rPr lang="es-AR" sz="2400" b="1" dirty="0"/>
              <a:t> insuficiente).</a:t>
            </a:r>
          </a:p>
          <a:p>
            <a:pPr>
              <a:defRPr sz="1800"/>
            </a:pPr>
            <a:r>
              <a:rPr lang="es-AR" sz="2400" b="1" dirty="0"/>
              <a:t>Ejemplo: Ejemplo: no limitar intentos de </a:t>
            </a:r>
            <a:r>
              <a:rPr lang="es-AR" sz="2400" b="1" dirty="0" err="1"/>
              <a:t>login</a:t>
            </a:r>
            <a:r>
              <a:rPr lang="es-AR" sz="2400" b="1" dirty="0"/>
              <a:t> o no segmentar funciones sensibles por roles.</a:t>
            </a:r>
          </a:p>
          <a:p>
            <a:pPr>
              <a:defRPr sz="1800"/>
            </a:pPr>
            <a:r>
              <a:rPr lang="es-AR" sz="2400" b="1" dirty="0"/>
              <a:t>Mitigaciones: Mitigaciones: </a:t>
            </a:r>
            <a:r>
              <a:rPr lang="es-AR" sz="2400" b="1" dirty="0" err="1"/>
              <a:t>threat</a:t>
            </a:r>
            <a:r>
              <a:rPr lang="es-AR" sz="2400" b="1" dirty="0"/>
              <a:t> </a:t>
            </a:r>
            <a:r>
              <a:rPr lang="es-AR" sz="2400" b="1" dirty="0" err="1"/>
              <a:t>modeling</a:t>
            </a:r>
            <a:r>
              <a:rPr lang="es-AR" sz="2400" b="1" dirty="0"/>
              <a:t>, </a:t>
            </a:r>
            <a:r>
              <a:rPr lang="es-AR" sz="2400" b="1" dirty="0" err="1"/>
              <a:t>secure-by-design</a:t>
            </a:r>
            <a:r>
              <a:rPr lang="es-AR" sz="2400" b="1" dirty="0"/>
              <a:t>, revisión arquitectural y requisitos de seguridad desde el inicio. </a:t>
            </a:r>
          </a:p>
          <a:p>
            <a:pPr>
              <a:defRPr sz="1800"/>
            </a:pPr>
            <a:r>
              <a:rPr lang="es-AR" sz="2400" b="1" dirty="0"/>
              <a:t>Mapeo OSI: Capa 7 (Aplicación) + transversal.</a:t>
            </a:r>
          </a:p>
          <a:p>
            <a:pPr>
              <a:defRPr sz="1800"/>
            </a:pPr>
            <a:endParaRPr lang="es-AR" sz="2400" b="1" dirty="0"/>
          </a:p>
          <a:p>
            <a:pPr>
              <a:defRPr sz="1800"/>
            </a:pP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13531545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10:2025 RC1 — Explicaciones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defRPr sz="1800"/>
            </a:pP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ampliada</a:t>
            </a:r>
            <a:r>
              <a:rPr dirty="0"/>
              <a:t>: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, </a:t>
            </a:r>
            <a:r>
              <a:rPr dirty="0" err="1"/>
              <a:t>remediaciones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a OSI.</a:t>
            </a:r>
            <a:endParaRPr lang="es-AR" dirty="0"/>
          </a:p>
          <a:p>
            <a:pPr marL="0" indent="0">
              <a:buNone/>
              <a:defRPr sz="1800"/>
            </a:pPr>
            <a:r>
              <a:rPr lang="es-AR" sz="2400" b="1" dirty="0"/>
              <a:t>A05 — Security </a:t>
            </a:r>
            <a:r>
              <a:rPr lang="es-AR" sz="2400" b="1" dirty="0" err="1"/>
              <a:t>Misconfiguration</a:t>
            </a:r>
            <a:endParaRPr lang="es-AR" sz="2400" b="1" dirty="0"/>
          </a:p>
          <a:p>
            <a:pPr>
              <a:defRPr sz="1800"/>
            </a:pPr>
            <a:r>
              <a:rPr lang="es-AR" sz="2400" b="1" dirty="0"/>
              <a:t>Servicios o infraestructuras expuestos por configuraciones por defecto o erróneas.</a:t>
            </a:r>
          </a:p>
          <a:p>
            <a:pPr>
              <a:defRPr sz="1800"/>
            </a:pPr>
            <a:r>
              <a:rPr lang="es-AR" sz="2400" b="1" dirty="0"/>
              <a:t>Ejemplo: Ejemplo: consola de administración accesible públicamente sin autenticación o S3/Blob con permisos públicos.</a:t>
            </a:r>
          </a:p>
          <a:p>
            <a:pPr>
              <a:defRPr sz="1800"/>
            </a:pPr>
            <a:r>
              <a:rPr lang="es-AR" sz="2400" b="1" dirty="0"/>
              <a:t>Mitigaciones: Mitigaciones: inventario y </a:t>
            </a:r>
            <a:r>
              <a:rPr lang="es-AR" sz="2400" b="1" dirty="0" err="1"/>
              <a:t>hardening</a:t>
            </a:r>
            <a:r>
              <a:rPr lang="es-AR" sz="2400" b="1" dirty="0"/>
              <a:t>, </a:t>
            </a:r>
            <a:r>
              <a:rPr lang="es-AR" sz="2400" b="1" dirty="0" err="1"/>
              <a:t>scanners</a:t>
            </a:r>
            <a:r>
              <a:rPr lang="es-AR" sz="2400" b="1" dirty="0"/>
              <a:t> de configuración, </a:t>
            </a:r>
            <a:r>
              <a:rPr lang="es-AR" sz="2400" b="1" dirty="0" err="1"/>
              <a:t>IaC</a:t>
            </a:r>
            <a:r>
              <a:rPr lang="es-AR" sz="2400" b="1" dirty="0"/>
              <a:t> seguro y revisión de políticas. </a:t>
            </a:r>
          </a:p>
          <a:p>
            <a:pPr>
              <a:defRPr sz="1800"/>
            </a:pPr>
            <a:r>
              <a:rPr lang="es-AR" sz="2400" b="1" dirty="0"/>
              <a:t>Mapeo OSI: Capa 3-7 dependiendo del servicio.</a:t>
            </a:r>
          </a:p>
          <a:p>
            <a:pPr>
              <a:defRPr sz="1800"/>
            </a:pPr>
            <a:endParaRPr lang="es-AR" sz="2400" b="1" dirty="0"/>
          </a:p>
          <a:p>
            <a:pPr>
              <a:defRPr sz="1800"/>
            </a:pP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496866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10:2025 RC1 — Explicaciones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defRPr sz="1800"/>
            </a:pP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ampliada</a:t>
            </a:r>
            <a:r>
              <a:rPr dirty="0"/>
              <a:t>: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, </a:t>
            </a:r>
            <a:r>
              <a:rPr dirty="0" err="1"/>
              <a:t>remediaciones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a OSI.</a:t>
            </a:r>
            <a:endParaRPr lang="es-AR" dirty="0"/>
          </a:p>
          <a:p>
            <a:pPr marL="0" indent="0">
              <a:buNone/>
              <a:defRPr sz="1800"/>
            </a:pPr>
            <a:r>
              <a:rPr lang="en-US" sz="2400" b="1" dirty="0"/>
              <a:t>A06 — Vulnerable and Outdated Components</a:t>
            </a:r>
          </a:p>
          <a:p>
            <a:pPr>
              <a:defRPr sz="1800"/>
            </a:pPr>
            <a:r>
              <a:rPr lang="es-AR" sz="2400" b="1" dirty="0"/>
              <a:t>Uso de librerías, </a:t>
            </a:r>
            <a:r>
              <a:rPr lang="es-AR" sz="2400" b="1" dirty="0" err="1"/>
              <a:t>frameworks</a:t>
            </a:r>
            <a:r>
              <a:rPr lang="es-AR" sz="2400" b="1" dirty="0"/>
              <a:t> o componentes con vulnerabilidades conocidas.</a:t>
            </a:r>
          </a:p>
          <a:p>
            <a:pPr>
              <a:defRPr sz="1800"/>
            </a:pPr>
            <a:r>
              <a:rPr lang="es-AR" sz="2400" b="1" dirty="0"/>
              <a:t>Ejemplo: Ejemplo: dependencia sin parchear con CVE crítico (p.ej. Log4j histórico).</a:t>
            </a:r>
          </a:p>
          <a:p>
            <a:pPr>
              <a:defRPr sz="1800"/>
            </a:pPr>
            <a:r>
              <a:rPr lang="es-AR" sz="2400" b="1" dirty="0"/>
              <a:t>Mitigaciones: Mitigaciones: SBOM, gestión de dependencias, escaneo automatizado (SCA), actualizaciones planificadas. </a:t>
            </a:r>
          </a:p>
          <a:p>
            <a:pPr>
              <a:defRPr sz="1800"/>
            </a:pPr>
            <a:r>
              <a:rPr lang="es-AR" sz="2400" b="1" dirty="0"/>
              <a:t>Mapeo OSI: Capa 7 y </a:t>
            </a:r>
            <a:r>
              <a:rPr lang="es-AR" sz="2400" b="1" dirty="0" err="1"/>
              <a:t>Supply</a:t>
            </a:r>
            <a:r>
              <a:rPr lang="es-AR" sz="2400" b="1" dirty="0"/>
              <a:t> </a:t>
            </a:r>
            <a:r>
              <a:rPr lang="es-AR" sz="2400" b="1" dirty="0" err="1"/>
              <a:t>Chain</a:t>
            </a:r>
            <a:r>
              <a:rPr lang="es-AR" sz="2400" b="1" dirty="0"/>
              <a:t>.</a:t>
            </a:r>
          </a:p>
          <a:p>
            <a:pPr>
              <a:defRPr sz="1800"/>
            </a:pPr>
            <a:endParaRPr lang="es-AR" sz="2400" b="1" dirty="0"/>
          </a:p>
          <a:p>
            <a:pPr>
              <a:defRPr sz="1800"/>
            </a:pP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41115262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10:2025 RC1 — Explicaciones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defRPr sz="1800"/>
            </a:pP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ampliada</a:t>
            </a:r>
            <a:r>
              <a:rPr dirty="0"/>
              <a:t>: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, </a:t>
            </a:r>
            <a:r>
              <a:rPr dirty="0" err="1"/>
              <a:t>remediaciones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a OSI.</a:t>
            </a:r>
            <a:endParaRPr lang="es-AR" dirty="0"/>
          </a:p>
          <a:p>
            <a:pPr marL="0" indent="0">
              <a:buNone/>
              <a:defRPr sz="1800"/>
            </a:pPr>
            <a:r>
              <a:rPr lang="en-US" sz="2400" b="1" dirty="0"/>
              <a:t>A07 — Identification &amp; Authentication Failures</a:t>
            </a:r>
          </a:p>
          <a:p>
            <a:pPr>
              <a:defRPr sz="1800"/>
            </a:pPr>
            <a:r>
              <a:rPr lang="es-AR" sz="2400" b="1" dirty="0"/>
              <a:t>Fallas en autenticación y gestión de sesiones que permiten acceso indebido.</a:t>
            </a:r>
          </a:p>
          <a:p>
            <a:pPr>
              <a:defRPr sz="1800"/>
            </a:pPr>
            <a:r>
              <a:rPr lang="es-AR" sz="2400" b="1" dirty="0"/>
              <a:t>Ejemplo: Ejemplo: tokens JWT sin expiración o reutilizables, olvidos de invalidar sesión al </a:t>
            </a:r>
            <a:r>
              <a:rPr lang="es-AR" sz="2400" b="1" dirty="0" err="1"/>
              <a:t>logout</a:t>
            </a:r>
            <a:r>
              <a:rPr lang="es-AR" sz="2400" b="1" dirty="0"/>
              <a:t>.</a:t>
            </a:r>
          </a:p>
          <a:p>
            <a:pPr>
              <a:defRPr sz="1800"/>
            </a:pPr>
            <a:r>
              <a:rPr lang="es-AR" sz="2400" b="1" dirty="0"/>
              <a:t>Mitigaciones: Mitigaciones: MFA, expiración y revocación de tokens, </a:t>
            </a:r>
            <a:r>
              <a:rPr lang="es-AR" sz="2400" b="1" dirty="0" err="1"/>
              <a:t>secure</a:t>
            </a:r>
            <a:r>
              <a:rPr lang="es-AR" sz="2400" b="1" dirty="0"/>
              <a:t> cookie </a:t>
            </a:r>
            <a:r>
              <a:rPr lang="es-AR" sz="2400" b="1" dirty="0" err="1"/>
              <a:t>flags</a:t>
            </a:r>
            <a:r>
              <a:rPr lang="es-AR" sz="2400" b="1" dirty="0"/>
              <a:t>, monitoreo de sesiones. </a:t>
            </a:r>
          </a:p>
          <a:p>
            <a:pPr>
              <a:defRPr sz="1800"/>
            </a:pPr>
            <a:r>
              <a:rPr lang="es-AR" sz="2400" b="1" dirty="0"/>
              <a:t>Mapeo OSI: Capa 7 (Aplicación).</a:t>
            </a:r>
          </a:p>
          <a:p>
            <a:pPr>
              <a:defRPr sz="1800"/>
            </a:pPr>
            <a:endParaRPr lang="es-AR" sz="2400" b="1" dirty="0"/>
          </a:p>
          <a:p>
            <a:pPr>
              <a:defRPr sz="1800"/>
            </a:pP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14837488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10:2025 RC1 — Explicaciones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defRPr sz="1800"/>
            </a:pP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ampliada</a:t>
            </a:r>
            <a:r>
              <a:rPr dirty="0"/>
              <a:t>: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, </a:t>
            </a:r>
            <a:r>
              <a:rPr dirty="0" err="1"/>
              <a:t>remediaciones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a OSI.</a:t>
            </a:r>
            <a:endParaRPr lang="es-AR" dirty="0"/>
          </a:p>
          <a:p>
            <a:pPr marL="0" indent="0">
              <a:buNone/>
              <a:defRPr sz="1800"/>
            </a:pPr>
            <a:r>
              <a:rPr lang="en-US" sz="2400" b="1" dirty="0"/>
              <a:t>A08 — Software &amp; Data Integrity Failures</a:t>
            </a:r>
          </a:p>
          <a:p>
            <a:pPr>
              <a:defRPr sz="1800"/>
            </a:pPr>
            <a:r>
              <a:rPr lang="es-AR" sz="2400" b="1" dirty="0"/>
              <a:t>Fallas que permiten manipular el software o datos sin detección.</a:t>
            </a:r>
          </a:p>
          <a:p>
            <a:pPr>
              <a:defRPr sz="1800"/>
            </a:pPr>
            <a:r>
              <a:rPr lang="es-AR" sz="2400" b="1" dirty="0"/>
              <a:t>Ejemplo: Ejemplo: pipeline CI que descarga artefactos sin verificar firmas; actualización </a:t>
            </a:r>
            <a:r>
              <a:rPr lang="es-AR" sz="2400" b="1" dirty="0" err="1"/>
              <a:t>supply-chain</a:t>
            </a:r>
            <a:r>
              <a:rPr lang="es-AR" sz="2400" b="1" dirty="0"/>
              <a:t> comprometida.</a:t>
            </a:r>
          </a:p>
          <a:p>
            <a:pPr>
              <a:defRPr sz="1800"/>
            </a:pPr>
            <a:r>
              <a:rPr lang="es-AR" sz="2400" b="1" dirty="0"/>
              <a:t>Mitigaciones: Mitigaciones: firmar artefactos, reproducible </a:t>
            </a:r>
            <a:r>
              <a:rPr lang="es-AR" sz="2400" b="1" dirty="0" err="1"/>
              <a:t>builds</a:t>
            </a:r>
            <a:r>
              <a:rPr lang="es-AR" sz="2400" b="1" dirty="0"/>
              <a:t>, verificar firma y hashes, proteger pipelines. </a:t>
            </a:r>
          </a:p>
          <a:p>
            <a:pPr>
              <a:defRPr sz="1800"/>
            </a:pPr>
            <a:r>
              <a:rPr lang="es-AR" sz="2400" b="1" dirty="0"/>
              <a:t>Mapeo OSI: transversal (DevOps/CI).</a:t>
            </a:r>
          </a:p>
          <a:p>
            <a:pPr>
              <a:defRPr sz="1800"/>
            </a:pPr>
            <a:endParaRPr lang="es-AR" sz="2400" b="1" dirty="0"/>
          </a:p>
          <a:p>
            <a:pPr>
              <a:defRPr sz="1800"/>
            </a:pP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18498118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10:2025 RC1 — Explicaciones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defRPr sz="1800"/>
            </a:pP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ampliada</a:t>
            </a:r>
            <a:r>
              <a:rPr dirty="0"/>
              <a:t>: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, </a:t>
            </a:r>
            <a:r>
              <a:rPr dirty="0" err="1"/>
              <a:t>remediaciones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a OSI.</a:t>
            </a:r>
            <a:endParaRPr lang="es-AR" dirty="0"/>
          </a:p>
          <a:p>
            <a:pPr marL="0" indent="0">
              <a:buNone/>
              <a:defRPr sz="1800"/>
            </a:pPr>
            <a:r>
              <a:rPr lang="en-US" sz="2400" b="1" dirty="0"/>
              <a:t>A09 — Security Logging &amp; Monitoring Failures</a:t>
            </a:r>
          </a:p>
          <a:p>
            <a:pPr>
              <a:defRPr sz="1800"/>
            </a:pPr>
            <a:r>
              <a:rPr lang="es-AR" sz="2400" b="1" dirty="0"/>
              <a:t>Falta de logs útiles o monitoreo que impide detectar y responder ataques.</a:t>
            </a:r>
          </a:p>
          <a:p>
            <a:pPr>
              <a:defRPr sz="1800"/>
            </a:pPr>
            <a:r>
              <a:rPr lang="es-AR" sz="2400" b="1" dirty="0"/>
              <a:t>Ejemplo: Ejemplo: no se registran intentos fallidos de </a:t>
            </a:r>
            <a:r>
              <a:rPr lang="es-AR" sz="2400" b="1" dirty="0" err="1"/>
              <a:t>login</a:t>
            </a:r>
            <a:r>
              <a:rPr lang="es-AR" sz="2400" b="1" dirty="0"/>
              <a:t> ni accesos a </a:t>
            </a:r>
            <a:r>
              <a:rPr lang="es-AR" sz="2400" b="1" dirty="0" err="1"/>
              <a:t>endpoints</a:t>
            </a:r>
            <a:r>
              <a:rPr lang="es-AR" sz="2400" b="1" dirty="0"/>
              <a:t> críticos.</a:t>
            </a:r>
          </a:p>
          <a:p>
            <a:pPr>
              <a:defRPr sz="1800"/>
            </a:pPr>
            <a:r>
              <a:rPr lang="es-AR" sz="2400" b="1" dirty="0"/>
              <a:t>Mitigaciones: Mitigaciones: definir logs mínimos (</a:t>
            </a:r>
            <a:r>
              <a:rPr lang="es-AR" sz="2400" b="1" dirty="0" err="1"/>
              <a:t>auth</a:t>
            </a:r>
            <a:r>
              <a:rPr lang="es-AR" sz="2400" b="1" dirty="0"/>
              <a:t>, </a:t>
            </a:r>
            <a:r>
              <a:rPr lang="es-AR" sz="2400" b="1" dirty="0" err="1"/>
              <a:t>privilege</a:t>
            </a:r>
            <a:r>
              <a:rPr lang="es-AR" sz="2400" b="1" dirty="0"/>
              <a:t> </a:t>
            </a:r>
            <a:r>
              <a:rPr lang="es-AR" sz="2400" b="1" dirty="0" err="1"/>
              <a:t>changes</a:t>
            </a:r>
            <a:r>
              <a:rPr lang="es-AR" sz="2400" b="1" dirty="0"/>
              <a:t>), alertas basadas en </a:t>
            </a:r>
            <a:r>
              <a:rPr lang="es-AR" sz="2400" b="1" dirty="0" err="1"/>
              <a:t>baselines</a:t>
            </a:r>
            <a:r>
              <a:rPr lang="es-AR" sz="2400" b="1" dirty="0"/>
              <a:t>, </a:t>
            </a:r>
            <a:r>
              <a:rPr lang="es-AR" sz="2400" b="1" dirty="0" err="1"/>
              <a:t>retention</a:t>
            </a:r>
            <a:r>
              <a:rPr lang="es-AR" sz="2400" b="1" dirty="0"/>
              <a:t> y protección de logs. </a:t>
            </a:r>
          </a:p>
          <a:p>
            <a:pPr>
              <a:defRPr sz="1800"/>
            </a:pPr>
            <a:r>
              <a:rPr lang="es-AR" sz="2400" b="1" dirty="0"/>
              <a:t>Mapeo OSI: Capa 7 + capa operativa (SOC).</a:t>
            </a:r>
          </a:p>
          <a:p>
            <a:pPr>
              <a:defRPr sz="1800"/>
            </a:pPr>
            <a:endParaRPr lang="es-AR" sz="2400" b="1" dirty="0"/>
          </a:p>
          <a:p>
            <a:pPr>
              <a:defRPr sz="1800"/>
            </a:pP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682235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OWASP Top 10:2025 RC1 — Explicaciones y Ejemplos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>
              <a:defRPr sz="1800"/>
            </a:pPr>
            <a:r>
              <a:rPr dirty="0" err="1"/>
              <a:t>Versión</a:t>
            </a:r>
            <a:r>
              <a:rPr dirty="0"/>
              <a:t> </a:t>
            </a:r>
            <a:r>
              <a:rPr dirty="0" err="1"/>
              <a:t>ampliada</a:t>
            </a:r>
            <a:r>
              <a:rPr dirty="0"/>
              <a:t>: </a:t>
            </a:r>
            <a:r>
              <a:rPr dirty="0" err="1"/>
              <a:t>ejemplos</a:t>
            </a:r>
            <a:r>
              <a:rPr dirty="0"/>
              <a:t> </a:t>
            </a:r>
            <a:r>
              <a:rPr dirty="0" err="1"/>
              <a:t>prácticos</a:t>
            </a:r>
            <a:r>
              <a:rPr dirty="0"/>
              <a:t>, </a:t>
            </a:r>
            <a:r>
              <a:rPr dirty="0" err="1"/>
              <a:t>remediaciones</a:t>
            </a:r>
            <a:r>
              <a:rPr dirty="0"/>
              <a:t> y </a:t>
            </a:r>
            <a:r>
              <a:rPr dirty="0" err="1"/>
              <a:t>mapeo</a:t>
            </a:r>
            <a:r>
              <a:rPr dirty="0"/>
              <a:t> a OSI.</a:t>
            </a:r>
            <a:endParaRPr lang="es-AR" dirty="0"/>
          </a:p>
          <a:p>
            <a:pPr marL="0" indent="0">
              <a:buNone/>
              <a:defRPr sz="1800"/>
            </a:pPr>
            <a:r>
              <a:rPr lang="en-US" sz="2400" b="1" dirty="0"/>
              <a:t>A10 — Mishandling of Exceptional Conditions</a:t>
            </a:r>
          </a:p>
          <a:p>
            <a:pPr>
              <a:defRPr sz="1800"/>
            </a:pPr>
            <a:r>
              <a:rPr lang="es-AR" sz="2400" b="1" dirty="0"/>
              <a:t>Errores y excepciones que exponen información sensible o crean estados inseguros.</a:t>
            </a:r>
          </a:p>
          <a:p>
            <a:pPr>
              <a:defRPr sz="1800"/>
            </a:pPr>
            <a:r>
              <a:rPr lang="es-AR" sz="2400" b="1" dirty="0"/>
              <a:t>Ejemplo: Ejemplo: </a:t>
            </a:r>
            <a:r>
              <a:rPr lang="es-AR" sz="2400" b="1" dirty="0" err="1"/>
              <a:t>stack</a:t>
            </a:r>
            <a:r>
              <a:rPr lang="es-AR" sz="2400" b="1" dirty="0"/>
              <a:t> trace con rutas, claves o detalles de infraestructura mostrado en pantalla tras error 500.</a:t>
            </a:r>
          </a:p>
          <a:p>
            <a:pPr>
              <a:defRPr sz="1800"/>
            </a:pPr>
            <a:r>
              <a:rPr lang="es-AR" sz="2400" b="1" dirty="0"/>
              <a:t>Mitigaciones: Mitigaciones: manejar y enmascarar errores, </a:t>
            </a:r>
            <a:r>
              <a:rPr lang="es-AR" sz="2400" b="1" dirty="0" err="1"/>
              <a:t>custom</a:t>
            </a:r>
            <a:r>
              <a:rPr lang="es-AR" sz="2400" b="1" dirty="0"/>
              <a:t> error </a:t>
            </a:r>
            <a:r>
              <a:rPr lang="es-AR" sz="2400" b="1" dirty="0" err="1"/>
              <a:t>pages</a:t>
            </a:r>
            <a:r>
              <a:rPr lang="es-AR" sz="2400" b="1" dirty="0"/>
              <a:t>, no exponer </a:t>
            </a:r>
            <a:r>
              <a:rPr lang="es-AR" sz="2400" b="1" dirty="0" err="1"/>
              <a:t>stack</a:t>
            </a:r>
            <a:r>
              <a:rPr lang="es-AR" sz="2400" b="1" dirty="0"/>
              <a:t> traces en producción, </a:t>
            </a:r>
            <a:r>
              <a:rPr lang="es-AR" sz="2400" b="1" dirty="0" err="1"/>
              <a:t>fail</a:t>
            </a:r>
            <a:r>
              <a:rPr lang="es-AR" sz="2400" b="1" dirty="0"/>
              <a:t> </a:t>
            </a:r>
            <a:r>
              <a:rPr lang="es-AR" sz="2400" b="1" dirty="0" err="1"/>
              <a:t>securely</a:t>
            </a:r>
            <a:r>
              <a:rPr lang="es-AR" sz="2400" b="1" dirty="0"/>
              <a:t>. </a:t>
            </a:r>
          </a:p>
          <a:p>
            <a:pPr>
              <a:defRPr sz="1800"/>
            </a:pPr>
            <a:r>
              <a:rPr lang="es-AR" sz="2400" b="1" dirty="0"/>
              <a:t>Mapeo OSI: Capa 7 (Aplicación).</a:t>
            </a:r>
          </a:p>
          <a:p>
            <a:pPr>
              <a:defRPr sz="1800"/>
            </a:pPr>
            <a:endParaRPr lang="es-AR" sz="2400" b="1" dirty="0"/>
          </a:p>
          <a:p>
            <a:pPr>
              <a:defRPr sz="1800"/>
            </a:pP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21400599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Checklist de mitigaciones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800"/>
            </a:pPr>
            <a:r>
              <a:rPr sz="2400" dirty="0"/>
              <a:t>1. </a:t>
            </a:r>
            <a:r>
              <a:rPr sz="2400" dirty="0" err="1"/>
              <a:t>Implementar</a:t>
            </a:r>
            <a:r>
              <a:rPr sz="2400" dirty="0"/>
              <a:t> secure-by-design y threat modeling </a:t>
            </a:r>
            <a:r>
              <a:rPr sz="2400" dirty="0" err="1"/>
              <a:t>temprano</a:t>
            </a:r>
            <a:r>
              <a:rPr sz="2400" dirty="0"/>
              <a:t>.</a:t>
            </a:r>
          </a:p>
          <a:p>
            <a:pPr>
              <a:defRPr sz="1800"/>
            </a:pPr>
            <a:r>
              <a:rPr sz="2400" dirty="0"/>
              <a:t>2. </a:t>
            </a:r>
            <a:r>
              <a:rPr sz="2400" dirty="0" err="1"/>
              <a:t>Forzar</a:t>
            </a:r>
            <a:r>
              <a:rPr sz="2400" dirty="0"/>
              <a:t> TLS </a:t>
            </a:r>
            <a:r>
              <a:rPr sz="2400" dirty="0" err="1"/>
              <a:t>moderno</a:t>
            </a:r>
            <a:r>
              <a:rPr sz="2400" dirty="0"/>
              <a:t> y </a:t>
            </a:r>
            <a:r>
              <a:rPr sz="2400" dirty="0" err="1"/>
              <a:t>gestionar</a:t>
            </a:r>
            <a:r>
              <a:rPr sz="2400" dirty="0"/>
              <a:t> claves/</a:t>
            </a:r>
            <a:r>
              <a:rPr sz="2400" dirty="0" err="1"/>
              <a:t>secretos</a:t>
            </a:r>
            <a:r>
              <a:rPr sz="2400" dirty="0"/>
              <a:t> de forma </a:t>
            </a:r>
            <a:r>
              <a:rPr sz="2400" dirty="0" err="1"/>
              <a:t>segura</a:t>
            </a:r>
            <a:r>
              <a:rPr sz="2400" dirty="0"/>
              <a:t>.</a:t>
            </a:r>
          </a:p>
          <a:p>
            <a:pPr>
              <a:defRPr sz="1800"/>
            </a:pPr>
            <a:r>
              <a:rPr sz="2400" dirty="0"/>
              <a:t>3. </a:t>
            </a:r>
            <a:r>
              <a:rPr sz="2400" dirty="0" err="1"/>
              <a:t>Usar</a:t>
            </a:r>
            <a:r>
              <a:rPr sz="2400" dirty="0"/>
              <a:t> prepared statements y </a:t>
            </a:r>
            <a:r>
              <a:rPr sz="2400" dirty="0" err="1"/>
              <a:t>validación</a:t>
            </a:r>
            <a:r>
              <a:rPr sz="2400" dirty="0"/>
              <a:t> de entradas (white-list).</a:t>
            </a:r>
          </a:p>
          <a:p>
            <a:pPr>
              <a:defRPr sz="1800"/>
            </a:pPr>
            <a:r>
              <a:rPr sz="2400" dirty="0"/>
              <a:t>4. </a:t>
            </a:r>
            <a:r>
              <a:rPr sz="2400" dirty="0" err="1"/>
              <a:t>Mantener</a:t>
            </a:r>
            <a:r>
              <a:rPr sz="2400" dirty="0"/>
              <a:t> un SBOM y </a:t>
            </a:r>
            <a:r>
              <a:rPr sz="2400" dirty="0" err="1"/>
              <a:t>escaneo</a:t>
            </a:r>
            <a:r>
              <a:rPr sz="2400" dirty="0"/>
              <a:t> SCA </a:t>
            </a:r>
            <a:r>
              <a:rPr sz="2400" dirty="0" err="1"/>
              <a:t>en</a:t>
            </a:r>
            <a:r>
              <a:rPr sz="2400" dirty="0"/>
              <a:t> pipelines CI/CD.</a:t>
            </a:r>
          </a:p>
          <a:p>
            <a:pPr>
              <a:defRPr sz="1800"/>
            </a:pPr>
            <a:r>
              <a:rPr sz="2400" dirty="0"/>
              <a:t>5. </a:t>
            </a:r>
            <a:r>
              <a:rPr sz="2400" dirty="0" err="1"/>
              <a:t>Habilitar</a:t>
            </a:r>
            <a:r>
              <a:rPr sz="2400" dirty="0"/>
              <a:t> logging </a:t>
            </a:r>
            <a:r>
              <a:rPr sz="2400" dirty="0" err="1"/>
              <a:t>mínimo</a:t>
            </a:r>
            <a:r>
              <a:rPr sz="2400" dirty="0"/>
              <a:t> y </a:t>
            </a:r>
            <a:r>
              <a:rPr sz="2400" dirty="0" err="1"/>
              <a:t>alertas</a:t>
            </a:r>
            <a:r>
              <a:rPr sz="2400" dirty="0"/>
              <a:t> </a:t>
            </a:r>
            <a:r>
              <a:rPr sz="2400" dirty="0" err="1"/>
              <a:t>relevantes</a:t>
            </a:r>
            <a:r>
              <a:rPr sz="2400" dirty="0"/>
              <a:t>; </a:t>
            </a:r>
            <a:r>
              <a:rPr sz="2400" dirty="0" err="1"/>
              <a:t>proteger</a:t>
            </a:r>
            <a:r>
              <a:rPr sz="2400" dirty="0"/>
              <a:t> logs.</a:t>
            </a:r>
          </a:p>
          <a:p>
            <a:pPr>
              <a:defRPr sz="1800"/>
            </a:pPr>
            <a:r>
              <a:rPr sz="2400" dirty="0"/>
              <a:t>6. </a:t>
            </a:r>
            <a:r>
              <a:rPr sz="2400" dirty="0" err="1"/>
              <a:t>Automatizar</a:t>
            </a:r>
            <a:r>
              <a:rPr sz="2400" dirty="0"/>
              <a:t> </a:t>
            </a:r>
            <a:r>
              <a:rPr sz="2400" dirty="0" err="1"/>
              <a:t>pruebas</a:t>
            </a:r>
            <a:r>
              <a:rPr sz="2400" dirty="0"/>
              <a:t> (SAST/DAST) y </a:t>
            </a:r>
            <a:r>
              <a:rPr sz="2400" dirty="0" err="1"/>
              <a:t>revisiones</a:t>
            </a:r>
            <a:r>
              <a:rPr sz="2400" dirty="0"/>
              <a:t> de </a:t>
            </a:r>
            <a:r>
              <a:rPr sz="2400" dirty="0" err="1"/>
              <a:t>dependencias</a:t>
            </a:r>
            <a:r>
              <a:rPr sz="2400" dirty="0"/>
              <a:t>.</a:t>
            </a:r>
          </a:p>
          <a:p>
            <a:pPr>
              <a:defRPr sz="1800"/>
            </a:pPr>
            <a:r>
              <a:rPr sz="2400" dirty="0"/>
              <a:t>7. </a:t>
            </a:r>
            <a:r>
              <a:rPr sz="2400" dirty="0" err="1"/>
              <a:t>Definir</a:t>
            </a:r>
            <a:r>
              <a:rPr sz="2400" dirty="0"/>
              <a:t> </a:t>
            </a:r>
            <a:r>
              <a:rPr sz="2400" dirty="0" err="1"/>
              <a:t>políticas</a:t>
            </a:r>
            <a:r>
              <a:rPr sz="2400" dirty="0"/>
              <a:t> de error/exception handling y no </a:t>
            </a:r>
            <a:r>
              <a:rPr sz="2400" dirty="0" err="1"/>
              <a:t>mostrar</a:t>
            </a:r>
            <a:r>
              <a:rPr sz="2400" dirty="0"/>
              <a:t> stack traces.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2631</TotalTime>
  <Words>3705</Words>
  <Application>Microsoft Office PowerPoint</Application>
  <PresentationFormat>Panorámica</PresentationFormat>
  <Paragraphs>281</Paragraphs>
  <Slides>34</Slides>
  <Notes>34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Tema de Office</vt:lpstr>
      <vt:lpstr>Amenazas y Vulnerabilidades por Capa OSI</vt:lpstr>
      <vt:lpstr>Capa 2: Enlace de Datos</vt:lpstr>
      <vt:lpstr>Capa 3: Red</vt:lpstr>
      <vt:lpstr>Capa 4: Transporte</vt:lpstr>
      <vt:lpstr>Capa 5: Sesion</vt:lpstr>
      <vt:lpstr>Capa 6: Presentacion</vt:lpstr>
      <vt:lpstr>Capa 7: Aplicación (se relevan en OWASP)</vt:lpstr>
      <vt:lpstr>¿Qué es OWASP? </vt:lpstr>
      <vt:lpstr>Principios Transversales de Seguridad</vt:lpstr>
      <vt:lpstr>Principios Transversales de Seguridad (cont.)</vt:lpstr>
      <vt:lpstr>Top 10</vt:lpstr>
      <vt:lpstr>Top 10 Web Application Security Risks</vt:lpstr>
      <vt:lpstr>Top 10 Web Application Security Risks (cont.)</vt:lpstr>
      <vt:lpstr>MASVS / Mobile Top 10</vt:lpstr>
      <vt:lpstr>MASVS / Mobile Top 10 (cont.)</vt:lpstr>
      <vt:lpstr>OWASP API Security Top 10 </vt:lpstr>
      <vt:lpstr>OWASP API Security Top 10 (cont.) </vt:lpstr>
      <vt:lpstr>Top 10 de aplicaciones nativas en Cloud</vt:lpstr>
      <vt:lpstr>Top 10 for Large Language Model (LLM) </vt:lpstr>
      <vt:lpstr>Top 10 for Large Language Model (LLM) cont. </vt:lpstr>
      <vt:lpstr>Top 10 de IoT</vt:lpstr>
      <vt:lpstr>Blockchain Top 10 (Draft / Emerging)</vt:lpstr>
      <vt:lpstr>Blockchain Top 10 (Draft / Emerging) cont.</vt:lpstr>
      <vt:lpstr>OWASP Top 10:2025 RC1 — Explicaciones y Ejemplos</vt:lpstr>
      <vt:lpstr>OWASP Top 10:2025 RC1 — Explicaciones y Ejemplos</vt:lpstr>
      <vt:lpstr>OWASP Top 10:2025 RC1 — Explicaciones y Ejemplos</vt:lpstr>
      <vt:lpstr>OWASP Top 10:2025 RC1 — Explicaciones y Ejemplos</vt:lpstr>
      <vt:lpstr>OWASP Top 10:2025 RC1 — Explicaciones y Ejemplos</vt:lpstr>
      <vt:lpstr>OWASP Top 10:2025 RC1 — Explicaciones y Ejemplos</vt:lpstr>
      <vt:lpstr>OWASP Top 10:2025 RC1 — Explicaciones y Ejemplos</vt:lpstr>
      <vt:lpstr>OWASP Top 10:2025 RC1 — Explicaciones y Ejemplos</vt:lpstr>
      <vt:lpstr>OWASP Top 10:2025 RC1 — Explicaciones y Ejemplos</vt:lpstr>
      <vt:lpstr>OWASP Top 10:2025 RC1 — Explicaciones y Ejemplos</vt:lpstr>
      <vt:lpstr>Checklist de mitigaciones prácticas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Cespi2</dc:creator>
  <cp:lastModifiedBy>Cespi2</cp:lastModifiedBy>
  <cp:revision>17</cp:revision>
  <dcterms:created xsi:type="dcterms:W3CDTF">2025-05-22T21:18:28Z</dcterms:created>
  <dcterms:modified xsi:type="dcterms:W3CDTF">2025-11-11T17:39:47Z</dcterms:modified>
</cp:coreProperties>
</file>